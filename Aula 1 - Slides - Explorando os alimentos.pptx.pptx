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Fredoka" charset="1" panose="02000000000000000000"/>
      <p:regular r:id="rId17"/>
    </p:embeddedFont>
    <p:embeddedFont>
      <p:font typeface="Poppins Italics" charset="1" panose="00000500000000000000"/>
      <p:regular r:id="rId18"/>
    </p:embeddedFont>
    <p:embeddedFont>
      <p:font typeface="Poppins" charset="1" panose="00000500000000000000"/>
      <p:regular r:id="rId19"/>
    </p:embeddedFont>
    <p:embeddedFont>
      <p:font typeface="Poppins Bold" charset="1" panose="00000800000000000000"/>
      <p:regular r:id="rId20"/>
    </p:embeddedFont>
    <p:embeddedFont>
      <p:font typeface="Poppins Semi-Bold" charset="1" panose="000007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5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27879" y="-1407865"/>
            <a:ext cx="4025480" cy="12731346"/>
            <a:chOff x="0" y="0"/>
            <a:chExt cx="5367307" cy="1697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7189454"/>
              <a:ext cx="5367307" cy="3924843"/>
            </a:xfrm>
            <a:custGeom>
              <a:avLst/>
              <a:gdLst/>
              <a:ahLst/>
              <a:cxnLst/>
              <a:rect r="r" b="b" t="t" l="l"/>
              <a:pathLst>
                <a:path h="3924843" w="5367307">
                  <a:moveTo>
                    <a:pt x="0" y="0"/>
                  </a:moveTo>
                  <a:lnTo>
                    <a:pt x="5367307" y="0"/>
                  </a:lnTo>
                  <a:lnTo>
                    <a:pt x="5367307" y="3924843"/>
                  </a:lnTo>
                  <a:lnTo>
                    <a:pt x="0" y="3924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11039128"/>
              <a:ext cx="5367307" cy="3247221"/>
            </a:xfrm>
            <a:custGeom>
              <a:avLst/>
              <a:gdLst/>
              <a:ahLst/>
              <a:cxnLst/>
              <a:rect r="r" b="b" t="t" l="l"/>
              <a:pathLst>
                <a:path h="3247221" w="5367307">
                  <a:moveTo>
                    <a:pt x="0" y="0"/>
                  </a:moveTo>
                  <a:lnTo>
                    <a:pt x="5367307" y="0"/>
                  </a:lnTo>
                  <a:lnTo>
                    <a:pt x="5367307" y="3247221"/>
                  </a:lnTo>
                  <a:lnTo>
                    <a:pt x="0" y="3247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08" y="14211179"/>
              <a:ext cx="5366890" cy="2763948"/>
            </a:xfrm>
            <a:custGeom>
              <a:avLst/>
              <a:gdLst/>
              <a:ahLst/>
              <a:cxnLst/>
              <a:rect r="r" b="b" t="t" l="l"/>
              <a:pathLst>
                <a:path h="2763948" w="5366890">
                  <a:moveTo>
                    <a:pt x="0" y="0"/>
                  </a:moveTo>
                  <a:lnTo>
                    <a:pt x="5366891" y="0"/>
                  </a:lnTo>
                  <a:lnTo>
                    <a:pt x="5366891" y="2763949"/>
                  </a:lnTo>
                  <a:lnTo>
                    <a:pt x="0" y="2763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3977148"/>
              <a:ext cx="5367307" cy="3287476"/>
            </a:xfrm>
            <a:custGeom>
              <a:avLst/>
              <a:gdLst/>
              <a:ahLst/>
              <a:cxnLst/>
              <a:rect r="r" b="b" t="t" l="l"/>
              <a:pathLst>
                <a:path h="3287476" w="5367307">
                  <a:moveTo>
                    <a:pt x="0" y="0"/>
                  </a:moveTo>
                  <a:lnTo>
                    <a:pt x="5367307" y="0"/>
                  </a:lnTo>
                  <a:lnTo>
                    <a:pt x="5367307" y="3287475"/>
                  </a:lnTo>
                  <a:lnTo>
                    <a:pt x="0" y="3287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67307" cy="4052317"/>
            </a:xfrm>
            <a:custGeom>
              <a:avLst/>
              <a:gdLst/>
              <a:ahLst/>
              <a:cxnLst/>
              <a:rect r="r" b="b" t="t" l="l"/>
              <a:pathLst>
                <a:path h="4052317" w="5367307">
                  <a:moveTo>
                    <a:pt x="0" y="0"/>
                  </a:moveTo>
                  <a:lnTo>
                    <a:pt x="5367307" y="0"/>
                  </a:lnTo>
                  <a:lnTo>
                    <a:pt x="5367307" y="4052317"/>
                  </a:lnTo>
                  <a:lnTo>
                    <a:pt x="0" y="4052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1066800"/>
            <a:ext cx="11182917" cy="354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9"/>
              </a:lnSpc>
            </a:pPr>
            <a:r>
              <a:rPr lang="en-US" sz="120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Composição dos Alimentos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756241"/>
            <a:ext cx="11182917" cy="80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87"/>
              </a:lnSpc>
              <a:spcBef>
                <a:spcPct val="0"/>
              </a:spcBef>
            </a:pPr>
            <a:r>
              <a:rPr lang="en-US" sz="4491" i="true">
                <a:solidFill>
                  <a:srgbClr val="B1D8B7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</a:t>
            </a:r>
            <a:r>
              <a:rPr lang="en-US" sz="4491" i="true">
                <a:solidFill>
                  <a:srgbClr val="B1D8B7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utrientes Essenciais para Saúde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039509"/>
            <a:ext cx="11182917" cy="121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7"/>
              </a:lnSpc>
            </a:pPr>
            <a:r>
              <a:rPr lang="en-US" sz="3391" i="true">
                <a:solidFill>
                  <a:srgbClr val="B1D8B7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SD 2 - MENOS DESPERDÍCIO, POR FAVOR!</a:t>
            </a:r>
          </a:p>
          <a:p>
            <a:pPr algn="l">
              <a:lnSpc>
                <a:spcPts val="4747"/>
              </a:lnSpc>
              <a:spcBef>
                <a:spcPct val="0"/>
              </a:spcBef>
            </a:pPr>
            <a:r>
              <a:rPr lang="en-US" sz="3391" i="true">
                <a:solidFill>
                  <a:srgbClr val="B1D8B7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Aula 1 - Explorando os alimentos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5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2384" y="458193"/>
            <a:ext cx="4333588" cy="4324560"/>
          </a:xfrm>
          <a:custGeom>
            <a:avLst/>
            <a:gdLst/>
            <a:ahLst/>
            <a:cxnLst/>
            <a:rect r="r" b="b" t="t" l="l"/>
            <a:pathLst>
              <a:path h="4324560" w="4333588">
                <a:moveTo>
                  <a:pt x="0" y="0"/>
                </a:moveTo>
                <a:lnTo>
                  <a:pt x="4333587" y="0"/>
                </a:lnTo>
                <a:lnTo>
                  <a:pt x="4333587" y="4324560"/>
                </a:lnTo>
                <a:lnTo>
                  <a:pt x="0" y="4324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59385" y="1649589"/>
            <a:ext cx="11755583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79"/>
              </a:lnSpc>
            </a:pPr>
            <a:r>
              <a:rPr lang="en-US" sz="7399" spc="147">
                <a:solidFill>
                  <a:srgbClr val="B1D8B7"/>
                </a:solidFill>
                <a:latin typeface="Fredoka"/>
                <a:ea typeface="Fredoka"/>
                <a:cs typeface="Fredoka"/>
                <a:sym typeface="Fredoka"/>
              </a:rPr>
              <a:t>Os nutrientes essenciais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32913" y="3246222"/>
            <a:ext cx="11408527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sz="2799" spc="5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Assim como um carro precisa de diferentes tipos de combustível, nosso corpo precisa de diferentes nutrientes: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2384" y="5353050"/>
            <a:ext cx="16912584" cy="4275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2151" indent="-371075" lvl="1">
              <a:lnSpc>
                <a:spcPts val="4812"/>
              </a:lnSpc>
              <a:buFont typeface="Arial"/>
              <a:buChar char="•"/>
            </a:pPr>
            <a:r>
              <a:rPr lang="en-US" b="true" sz="3437" spc="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Carboidratos: </a:t>
            </a:r>
            <a:r>
              <a:rPr lang="en-US" sz="3437" spc="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Fornecem energia para o corpo.</a:t>
            </a:r>
          </a:p>
          <a:p>
            <a:pPr algn="l" marL="742151" indent="-371075" lvl="1">
              <a:lnSpc>
                <a:spcPts val="4812"/>
              </a:lnSpc>
              <a:buFont typeface="Arial"/>
              <a:buChar char="•"/>
            </a:pPr>
            <a:r>
              <a:rPr lang="en-US" b="true" sz="3437" spc="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Proteínas: </a:t>
            </a:r>
            <a:r>
              <a:rPr lang="en-US" sz="3437" spc="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Cruciais para o crescimento. Ajudam a construir e reparar os tecidos.</a:t>
            </a:r>
          </a:p>
          <a:p>
            <a:pPr algn="l" marL="742151" indent="-371075" lvl="1">
              <a:lnSpc>
                <a:spcPts val="4812"/>
              </a:lnSpc>
              <a:buFont typeface="Arial"/>
              <a:buChar char="•"/>
            </a:pPr>
            <a:r>
              <a:rPr lang="en-US" b="true" sz="3437" spc="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Lipídios (Gorduras):</a:t>
            </a:r>
            <a:r>
              <a:rPr lang="en-US" sz="3437" spc="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Fornecem energia (reserva energética) e ajudam na absorção de vitaminas, bem como na produção de hormônios.</a:t>
            </a:r>
          </a:p>
          <a:p>
            <a:pPr algn="l" marL="742151" indent="-371075" lvl="1">
              <a:lnSpc>
                <a:spcPts val="4812"/>
              </a:lnSpc>
              <a:buFont typeface="Arial"/>
              <a:buChar char="•"/>
            </a:pPr>
            <a:r>
              <a:rPr lang="en-US" b="true" sz="3437" spc="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Vitaminas e Minerais: </a:t>
            </a:r>
            <a:r>
              <a:rPr lang="en-US" sz="3437" spc="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Ajudam o corpo a funcionar corretamente.</a:t>
            </a:r>
          </a:p>
          <a:p>
            <a:pPr algn="l" marL="742151" indent="-371075" lvl="1">
              <a:lnSpc>
                <a:spcPts val="4812"/>
              </a:lnSpc>
              <a:buFont typeface="Arial"/>
              <a:buChar char="•"/>
            </a:pPr>
            <a:r>
              <a:rPr lang="en-US" b="true" sz="3437" spc="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Fibras: </a:t>
            </a:r>
            <a:r>
              <a:rPr lang="en-US" sz="3437" spc="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Fibras ajudam a regular a digestão e saúde.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1D8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87311" y="1028700"/>
            <a:ext cx="14313378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00"/>
              </a:lnSpc>
            </a:pPr>
            <a:r>
              <a:rPr lang="en-US" sz="7500" spc="150">
                <a:solidFill>
                  <a:srgbClr val="2F5233"/>
                </a:solidFill>
                <a:latin typeface="Fredoka"/>
                <a:ea typeface="Fredoka"/>
                <a:cs typeface="Fredoka"/>
                <a:sym typeface="Fredoka"/>
              </a:rPr>
              <a:t>Grupos Alimentares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95657" y="7024063"/>
            <a:ext cx="4430678" cy="592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20"/>
              </a:lnSpc>
              <a:spcBef>
                <a:spcPct val="0"/>
              </a:spcBef>
            </a:pPr>
            <a:r>
              <a:rPr lang="en-US" b="true" sz="3300" spc="66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FRUTAS E LEGUMES: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95657" y="7757131"/>
            <a:ext cx="4430678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Ricos em vitaminas e minerais.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872438" y="3575833"/>
            <a:ext cx="3477117" cy="2655648"/>
          </a:xfrm>
          <a:custGeom>
            <a:avLst/>
            <a:gdLst/>
            <a:ahLst/>
            <a:cxnLst/>
            <a:rect r="r" b="b" t="t" l="l"/>
            <a:pathLst>
              <a:path h="2655648" w="3477117">
                <a:moveTo>
                  <a:pt x="0" y="0"/>
                </a:moveTo>
                <a:lnTo>
                  <a:pt x="3477117" y="0"/>
                </a:lnTo>
                <a:lnTo>
                  <a:pt x="3477117" y="2655649"/>
                </a:lnTo>
                <a:lnTo>
                  <a:pt x="0" y="26556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928661" y="7024063"/>
            <a:ext cx="4430678" cy="592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20"/>
              </a:lnSpc>
              <a:spcBef>
                <a:spcPct val="0"/>
              </a:spcBef>
            </a:pPr>
            <a:r>
              <a:rPr lang="en-US" b="true" sz="3300" spc="66" strike="noStrike" u="non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GRÃOS E CEREAIS: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28661" y="7757131"/>
            <a:ext cx="4430678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Fornecem energia e fibras.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315671" y="3575833"/>
            <a:ext cx="3656659" cy="2655648"/>
          </a:xfrm>
          <a:custGeom>
            <a:avLst/>
            <a:gdLst/>
            <a:ahLst/>
            <a:cxnLst/>
            <a:rect r="r" b="b" t="t" l="l"/>
            <a:pathLst>
              <a:path h="2655648" w="3656659">
                <a:moveTo>
                  <a:pt x="0" y="0"/>
                </a:moveTo>
                <a:lnTo>
                  <a:pt x="3656658" y="0"/>
                </a:lnTo>
                <a:lnTo>
                  <a:pt x="3656658" y="2655649"/>
                </a:lnTo>
                <a:lnTo>
                  <a:pt x="0" y="2655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461665" y="7024063"/>
            <a:ext cx="4430678" cy="592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20"/>
              </a:lnSpc>
              <a:spcBef>
                <a:spcPct val="0"/>
              </a:spcBef>
            </a:pPr>
            <a:r>
              <a:rPr lang="en-US" b="true" sz="3300" spc="66" strike="noStrike" u="non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PROTEÍNAS: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61665" y="7766656"/>
            <a:ext cx="4430678" cy="47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21"/>
              </a:lnSpc>
              <a:spcBef>
                <a:spcPct val="0"/>
              </a:spcBef>
            </a:pPr>
            <a:r>
              <a:rPr lang="en-US" sz="2658" spc="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Carnes, ovos, feijões, etc.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509127" y="3575833"/>
            <a:ext cx="4335753" cy="2655648"/>
          </a:xfrm>
          <a:custGeom>
            <a:avLst/>
            <a:gdLst/>
            <a:ahLst/>
            <a:cxnLst/>
            <a:rect r="r" b="b" t="t" l="l"/>
            <a:pathLst>
              <a:path h="2655648" w="4335753">
                <a:moveTo>
                  <a:pt x="0" y="0"/>
                </a:moveTo>
                <a:lnTo>
                  <a:pt x="4335753" y="0"/>
                </a:lnTo>
                <a:lnTo>
                  <a:pt x="4335753" y="2655649"/>
                </a:lnTo>
                <a:lnTo>
                  <a:pt x="0" y="26556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ircl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1D8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57041" y="0"/>
            <a:ext cx="9430959" cy="10287000"/>
            <a:chOff x="0" y="0"/>
            <a:chExt cx="2483874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83874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83874">
                  <a:moveTo>
                    <a:pt x="0" y="0"/>
                  </a:moveTo>
                  <a:lnTo>
                    <a:pt x="2483874" y="0"/>
                  </a:lnTo>
                  <a:lnTo>
                    <a:pt x="248387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F523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483874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55779" y="874162"/>
            <a:ext cx="7433482" cy="8538676"/>
            <a:chOff x="0" y="0"/>
            <a:chExt cx="812800" cy="9336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933645"/>
            </a:xfrm>
            <a:custGeom>
              <a:avLst/>
              <a:gdLst/>
              <a:ahLst/>
              <a:cxnLst/>
              <a:rect r="r" b="b" t="t" l="l"/>
              <a:pathLst>
                <a:path h="93364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33645"/>
                  </a:lnTo>
                  <a:lnTo>
                    <a:pt x="0" y="933645"/>
                  </a:lnTo>
                  <a:close/>
                </a:path>
              </a:pathLst>
            </a:custGeom>
            <a:blipFill>
              <a:blip r:embed="rId2"/>
              <a:stretch>
                <a:fillRect l="0" t="-14367" r="0" b="-14367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2006436"/>
            <a:ext cx="7047920" cy="2333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99"/>
              </a:lnSpc>
            </a:pPr>
            <a:r>
              <a:rPr lang="en-US" sz="7749" spc="154">
                <a:solidFill>
                  <a:srgbClr val="2F5233"/>
                </a:solidFill>
                <a:latin typeface="Fredoka"/>
                <a:ea typeface="Fredoka"/>
                <a:cs typeface="Fredoka"/>
                <a:sym typeface="Fredoka"/>
              </a:rPr>
              <a:t>A importância da água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080489"/>
            <a:ext cx="7047920" cy="32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</a:pPr>
            <a:r>
              <a:rPr lang="en-US" sz="3000" spc="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água é essencial para o nosso corpo! Ela ajuda a transportar os nutrientes, manter a temperatura do corpo e eliminar o que não precisamos. Beba água ao longo do dia!</a:t>
            </a:r>
          </a:p>
        </p:txBody>
      </p:sp>
    </p:spTree>
  </p:cSld>
  <p:clrMapOvr>
    <a:masterClrMapping/>
  </p:clrMapOvr>
  <p:transition spd="fast">
    <p:circl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5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883372"/>
            <a:ext cx="6678880" cy="6520257"/>
          </a:xfrm>
          <a:custGeom>
            <a:avLst/>
            <a:gdLst/>
            <a:ahLst/>
            <a:cxnLst/>
            <a:rect r="r" b="b" t="t" l="l"/>
            <a:pathLst>
              <a:path h="6520257" w="6678880">
                <a:moveTo>
                  <a:pt x="0" y="0"/>
                </a:moveTo>
                <a:lnTo>
                  <a:pt x="6678880" y="0"/>
                </a:lnTo>
                <a:lnTo>
                  <a:pt x="6678880" y="6520256"/>
                </a:lnTo>
                <a:lnTo>
                  <a:pt x="0" y="65202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77373" y="1763120"/>
            <a:ext cx="7767627" cy="411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</a:pPr>
            <a:r>
              <a:rPr lang="en-US" sz="9000" spc="179">
                <a:solidFill>
                  <a:srgbClr val="B1D8B7"/>
                </a:solidFill>
                <a:latin typeface="Fredoka"/>
                <a:ea typeface="Fredoka"/>
                <a:cs typeface="Fredoka"/>
                <a:sym typeface="Fredoka"/>
              </a:rPr>
              <a:t>O que é um cardápio equilibrado?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77373" y="6533993"/>
            <a:ext cx="7767627" cy="172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8"/>
              </a:lnSpc>
            </a:pPr>
            <a:r>
              <a:rPr lang="en-US" sz="2637" spc="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Um cardápio equilibrado inclui todos os grupos alimentares, nas quantidades certas para o nosso corpo. Não devemos comer muito de um grupo e pouco de outro.</a:t>
            </a:r>
          </a:p>
        </p:txBody>
      </p:sp>
    </p:spTree>
  </p:cSld>
  <p:clrMapOvr>
    <a:masterClrMapping/>
  </p:clrMapOvr>
  <p:transition spd="fast">
    <p:circl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1D8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49607" y="6132755"/>
            <a:ext cx="10588787" cy="3639895"/>
          </a:xfrm>
          <a:custGeom>
            <a:avLst/>
            <a:gdLst/>
            <a:ahLst/>
            <a:cxnLst/>
            <a:rect r="r" b="b" t="t" l="l"/>
            <a:pathLst>
              <a:path h="3639895" w="10588787">
                <a:moveTo>
                  <a:pt x="0" y="0"/>
                </a:moveTo>
                <a:lnTo>
                  <a:pt x="10588786" y="0"/>
                </a:lnTo>
                <a:lnTo>
                  <a:pt x="10588786" y="3639895"/>
                </a:lnTo>
                <a:lnTo>
                  <a:pt x="0" y="3639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33364" y="1143975"/>
            <a:ext cx="14021272" cy="122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</a:pPr>
            <a:r>
              <a:rPr lang="en-US" sz="8000" spc="160">
                <a:solidFill>
                  <a:srgbClr val="2F5233"/>
                </a:solidFill>
                <a:latin typeface="Fredoka"/>
                <a:ea typeface="Fredoka"/>
                <a:cs typeface="Fredoka"/>
                <a:sym typeface="Fredoka"/>
              </a:rPr>
              <a:t>Necessidades individuais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33364" y="3260413"/>
            <a:ext cx="14021272" cy="16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sz="3000" spc="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Cada pessoa tem necessidades nutricionais diferentes, dependendo da idade, sexo e atividade física. Um atleta precisa de mais energia do que uma pessoa que não se exercita muito.</a:t>
            </a:r>
          </a:p>
        </p:txBody>
      </p:sp>
    </p:spTree>
  </p:cSld>
  <p:clrMapOvr>
    <a:masterClrMapping/>
  </p:clrMapOvr>
  <p:transition spd="fast">
    <p:circl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1D8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543998"/>
            <a:ext cx="6722671" cy="9743002"/>
          </a:xfrm>
          <a:custGeom>
            <a:avLst/>
            <a:gdLst/>
            <a:ahLst/>
            <a:cxnLst/>
            <a:rect r="r" b="b" t="t" l="l"/>
            <a:pathLst>
              <a:path h="9743002" w="6722671">
                <a:moveTo>
                  <a:pt x="6722671" y="0"/>
                </a:moveTo>
                <a:lnTo>
                  <a:pt x="0" y="0"/>
                </a:lnTo>
                <a:lnTo>
                  <a:pt x="0" y="9743002"/>
                </a:lnTo>
                <a:lnTo>
                  <a:pt x="6722671" y="9743002"/>
                </a:lnTo>
                <a:lnTo>
                  <a:pt x="6722671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77373" y="1936873"/>
            <a:ext cx="7767627" cy="363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50"/>
              </a:lnSpc>
            </a:pPr>
            <a:r>
              <a:rPr lang="en-US" sz="9000" spc="179">
                <a:solidFill>
                  <a:srgbClr val="2F5233"/>
                </a:solidFill>
                <a:latin typeface="Fredoka"/>
                <a:ea typeface="Fredoka"/>
                <a:cs typeface="Fredoka"/>
                <a:sym typeface="Fredoka"/>
              </a:rPr>
              <a:t>O que nos contam os rótulos?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77373" y="6393420"/>
            <a:ext cx="7767627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</a:pPr>
            <a:r>
              <a:rPr lang="en-US" sz="3000" spc="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Aprenda a ler os rótulos dos alimentos para saber o que você está comendo. Fique atento às quantidades de açúcar, sal e gorduras.</a:t>
            </a:r>
          </a:p>
        </p:txBody>
      </p:sp>
    </p:spTree>
  </p:cSld>
  <p:clrMapOvr>
    <a:masterClrMapping/>
  </p:clrMapOvr>
  <p:transition spd="fast">
    <p:circl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39921" y="264423"/>
            <a:ext cx="6419379" cy="8993877"/>
          </a:xfrm>
          <a:custGeom>
            <a:avLst/>
            <a:gdLst/>
            <a:ahLst/>
            <a:cxnLst/>
            <a:rect r="r" b="b" t="t" l="l"/>
            <a:pathLst>
              <a:path h="8993877" w="6419379">
                <a:moveTo>
                  <a:pt x="0" y="0"/>
                </a:moveTo>
                <a:lnTo>
                  <a:pt x="6419379" y="0"/>
                </a:lnTo>
                <a:lnTo>
                  <a:pt x="6419379" y="8993877"/>
                </a:lnTo>
                <a:lnTo>
                  <a:pt x="0" y="8993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838200"/>
            <a:ext cx="7601413" cy="219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sz="8499">
                <a:solidFill>
                  <a:srgbClr val="2F5233"/>
                </a:solidFill>
                <a:latin typeface="Fredoka"/>
                <a:ea typeface="Fredoka"/>
                <a:cs typeface="Fredoka"/>
                <a:sym typeface="Fredoka"/>
              </a:rPr>
              <a:t>Tabelas Nutricionais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4352925"/>
            <a:ext cx="8319117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 tabelas nutricionais são essenciais para entender os nutrientes dos alimentos e guiar uma dieta saudável.</a:t>
            </a:r>
          </a:p>
        </p:txBody>
      </p:sp>
    </p:spTree>
  </p:cSld>
  <p:clrMapOvr>
    <a:masterClrMapping/>
  </p:clrMapOvr>
  <p:transition spd="fast">
    <p:circl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5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9144000" y="0"/>
            <a:ext cx="9144000" cy="10287000"/>
          </a:xfrm>
          <a:prstGeom prst="rect">
            <a:avLst/>
          </a:prstGeom>
          <a:solidFill>
            <a:srgbClr val="B1D8B7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0990251" y="6254020"/>
            <a:ext cx="5765441" cy="2990823"/>
          </a:xfrm>
          <a:custGeom>
            <a:avLst/>
            <a:gdLst/>
            <a:ahLst/>
            <a:cxnLst/>
            <a:rect r="r" b="b" t="t" l="l"/>
            <a:pathLst>
              <a:path h="2990823" w="5765441">
                <a:moveTo>
                  <a:pt x="0" y="0"/>
                </a:moveTo>
                <a:lnTo>
                  <a:pt x="5765441" y="0"/>
                </a:lnTo>
                <a:lnTo>
                  <a:pt x="5765441" y="2990823"/>
                </a:lnTo>
                <a:lnTo>
                  <a:pt x="0" y="29908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13793" y="1170375"/>
            <a:ext cx="5118357" cy="3973125"/>
          </a:xfrm>
          <a:custGeom>
            <a:avLst/>
            <a:gdLst/>
            <a:ahLst/>
            <a:cxnLst/>
            <a:rect r="r" b="b" t="t" l="l"/>
            <a:pathLst>
              <a:path h="3973125" w="5118357">
                <a:moveTo>
                  <a:pt x="0" y="0"/>
                </a:moveTo>
                <a:lnTo>
                  <a:pt x="5118357" y="0"/>
                </a:lnTo>
                <a:lnTo>
                  <a:pt x="5118357" y="3973125"/>
                </a:lnTo>
                <a:lnTo>
                  <a:pt x="0" y="3973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377220"/>
            <a:ext cx="7541988" cy="487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30"/>
              </a:lnSpc>
            </a:pPr>
            <a:r>
              <a:rPr lang="en-US" sz="8025" spc="160">
                <a:solidFill>
                  <a:srgbClr val="B1D8B7"/>
                </a:solidFill>
                <a:latin typeface="Fredoka"/>
                <a:ea typeface="Fredoka"/>
                <a:cs typeface="Fredoka"/>
                <a:sym typeface="Fredoka"/>
              </a:rPr>
              <a:t>Alimentos processados X Alimentos naturais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744035"/>
            <a:ext cx="7141593" cy="226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34"/>
              </a:lnSpc>
            </a:pPr>
            <a:r>
              <a:rPr lang="en-US" sz="2718" spc="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Prefira alimentos naturais, como frutas, legumes e verduras, em vez de alimentos processados, como biscoitos e salgadinhos. Os alimentos naturais são mais nutritivos e saudáveis.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1D8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21678" y="2949515"/>
            <a:ext cx="4037622" cy="6308785"/>
          </a:xfrm>
          <a:custGeom>
            <a:avLst/>
            <a:gdLst/>
            <a:ahLst/>
            <a:cxnLst/>
            <a:rect r="r" b="b" t="t" l="l"/>
            <a:pathLst>
              <a:path h="6308785" w="4037622">
                <a:moveTo>
                  <a:pt x="0" y="0"/>
                </a:moveTo>
                <a:lnTo>
                  <a:pt x="4037622" y="0"/>
                </a:lnTo>
                <a:lnTo>
                  <a:pt x="4037622" y="6308785"/>
                </a:lnTo>
                <a:lnTo>
                  <a:pt x="0" y="63087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562100"/>
            <a:ext cx="15577551" cy="918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62"/>
              </a:lnSpc>
            </a:pPr>
            <a:r>
              <a:rPr lang="en-US" sz="6600" spc="132">
                <a:solidFill>
                  <a:srgbClr val="2F5233"/>
                </a:solidFill>
                <a:latin typeface="Fredoka"/>
                <a:ea typeface="Fredoka"/>
                <a:cs typeface="Fredoka"/>
                <a:sym typeface="Fredoka"/>
              </a:rPr>
              <a:t>Analisando Rótulos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90406"/>
            <a:ext cx="7361855" cy="535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5"/>
              </a:lnSpc>
            </a:pPr>
            <a:r>
              <a:rPr lang="en-US" sz="3500" spc="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Agora é a sua vez! </a:t>
            </a:r>
          </a:p>
        </p:txBody>
      </p:sp>
    </p:spTree>
  </p:cSld>
  <p:clrMapOvr>
    <a:masterClrMapping/>
  </p:clrMapOvr>
  <p:transition spd="fast">
    <p:circle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2F5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632996"/>
            <a:ext cx="15577551" cy="1781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587"/>
              </a:lnSpc>
            </a:pPr>
            <a:r>
              <a:rPr lang="en-US" sz="12698" spc="253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Obrigado!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6771677"/>
            <a:ext cx="15577551" cy="1027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17"/>
              </a:lnSpc>
            </a:pPr>
            <a:r>
              <a:rPr lang="en-US" sz="7399" spc="147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Dúvidas?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DAG9lp9w_UY</dc:identifier>
  <dcterms:modified xsi:type="dcterms:W3CDTF">2011-08-01T06:04:30Z</dcterms:modified>
  <cp:revision>1</cp:revision>
  <dc:title>SD2 - Aula 1</dc:title>
</cp:coreProperties>
</file>