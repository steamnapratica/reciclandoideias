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Le Petit Cochon" charset="1" panose="00000500000000000000"/>
      <p:regular r:id="rId23"/>
    </p:embeddedFont>
    <p:embeddedFont>
      <p:font typeface="One Little Font" charset="1" panose="00000500000000000000"/>
      <p:regular r:id="rId24"/>
    </p:embeddedFont>
    <p:embeddedFont>
      <p:font typeface="One Little Font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jpeg" Type="http://schemas.openxmlformats.org/officeDocument/2006/relationships/image"/><Relationship Id="rId5" Target="../media/image4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426952">
            <a:off x="8848010" y="8366233"/>
            <a:ext cx="2165363" cy="2059802"/>
          </a:xfrm>
          <a:custGeom>
            <a:avLst/>
            <a:gdLst/>
            <a:ahLst/>
            <a:cxnLst/>
            <a:rect r="r" b="b" t="t" l="l"/>
            <a:pathLst>
              <a:path h="2059802" w="2165363">
                <a:moveTo>
                  <a:pt x="0" y="0"/>
                </a:moveTo>
                <a:lnTo>
                  <a:pt x="2165363" y="0"/>
                </a:lnTo>
                <a:lnTo>
                  <a:pt x="2165363" y="2059802"/>
                </a:lnTo>
                <a:lnTo>
                  <a:pt x="0" y="2059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248121">
            <a:off x="8487324" y="7450196"/>
            <a:ext cx="3728296" cy="4163889"/>
          </a:xfrm>
          <a:custGeom>
            <a:avLst/>
            <a:gdLst/>
            <a:ahLst/>
            <a:cxnLst/>
            <a:rect r="r" b="b" t="t" l="l"/>
            <a:pathLst>
              <a:path h="4163889" w="3728296">
                <a:moveTo>
                  <a:pt x="0" y="0"/>
                </a:moveTo>
                <a:lnTo>
                  <a:pt x="3728296" y="0"/>
                </a:lnTo>
                <a:lnTo>
                  <a:pt x="3728296" y="4163889"/>
                </a:lnTo>
                <a:lnTo>
                  <a:pt x="0" y="41638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16435">
            <a:off x="12012787" y="5565126"/>
            <a:ext cx="1979039" cy="3210548"/>
          </a:xfrm>
          <a:custGeom>
            <a:avLst/>
            <a:gdLst/>
            <a:ahLst/>
            <a:cxnLst/>
            <a:rect r="r" b="b" t="t" l="l"/>
            <a:pathLst>
              <a:path h="3210548" w="1979039">
                <a:moveTo>
                  <a:pt x="0" y="0"/>
                </a:moveTo>
                <a:lnTo>
                  <a:pt x="1979039" y="0"/>
                </a:lnTo>
                <a:lnTo>
                  <a:pt x="1979039" y="3210548"/>
                </a:lnTo>
                <a:lnTo>
                  <a:pt x="0" y="32105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860300">
            <a:off x="13253430" y="7923786"/>
            <a:ext cx="3254233" cy="4315799"/>
          </a:xfrm>
          <a:custGeom>
            <a:avLst/>
            <a:gdLst/>
            <a:ahLst/>
            <a:cxnLst/>
            <a:rect r="r" b="b" t="t" l="l"/>
            <a:pathLst>
              <a:path h="4315799" w="3254233">
                <a:moveTo>
                  <a:pt x="0" y="0"/>
                </a:moveTo>
                <a:lnTo>
                  <a:pt x="3254232" y="0"/>
                </a:lnTo>
                <a:lnTo>
                  <a:pt x="3254232" y="4315798"/>
                </a:lnTo>
                <a:lnTo>
                  <a:pt x="0" y="43157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11913">
            <a:off x="16758529" y="7406172"/>
            <a:ext cx="1678156" cy="1754189"/>
          </a:xfrm>
          <a:custGeom>
            <a:avLst/>
            <a:gdLst/>
            <a:ahLst/>
            <a:cxnLst/>
            <a:rect r="r" b="b" t="t" l="l"/>
            <a:pathLst>
              <a:path h="1754189" w="1678156">
                <a:moveTo>
                  <a:pt x="0" y="0"/>
                </a:moveTo>
                <a:lnTo>
                  <a:pt x="1678156" y="0"/>
                </a:lnTo>
                <a:lnTo>
                  <a:pt x="1678156" y="1754189"/>
                </a:lnTo>
                <a:lnTo>
                  <a:pt x="0" y="1754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332201">
            <a:off x="15568106" y="3549735"/>
            <a:ext cx="2269935" cy="4842527"/>
          </a:xfrm>
          <a:custGeom>
            <a:avLst/>
            <a:gdLst/>
            <a:ahLst/>
            <a:cxnLst/>
            <a:rect r="r" b="b" t="t" l="l"/>
            <a:pathLst>
              <a:path h="4842527" w="2269935">
                <a:moveTo>
                  <a:pt x="0" y="0"/>
                </a:moveTo>
                <a:lnTo>
                  <a:pt x="2269934" y="0"/>
                </a:lnTo>
                <a:lnTo>
                  <a:pt x="2269934" y="4842527"/>
                </a:lnTo>
                <a:lnTo>
                  <a:pt x="0" y="4842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55563">
            <a:off x="12893776" y="-671459"/>
            <a:ext cx="3316190" cy="5419701"/>
          </a:xfrm>
          <a:custGeom>
            <a:avLst/>
            <a:gdLst/>
            <a:ahLst/>
            <a:cxnLst/>
            <a:rect r="r" b="b" t="t" l="l"/>
            <a:pathLst>
              <a:path h="5419701" w="3316190">
                <a:moveTo>
                  <a:pt x="0" y="0"/>
                </a:moveTo>
                <a:lnTo>
                  <a:pt x="3316191" y="0"/>
                </a:lnTo>
                <a:lnTo>
                  <a:pt x="3316191" y="5419701"/>
                </a:lnTo>
                <a:lnTo>
                  <a:pt x="0" y="54197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155563">
            <a:off x="16537717" y="-1239312"/>
            <a:ext cx="2119781" cy="4937663"/>
          </a:xfrm>
          <a:custGeom>
            <a:avLst/>
            <a:gdLst/>
            <a:ahLst/>
            <a:cxnLst/>
            <a:rect r="r" b="b" t="t" l="l"/>
            <a:pathLst>
              <a:path h="4937663" w="2119781">
                <a:moveTo>
                  <a:pt x="0" y="0"/>
                </a:moveTo>
                <a:lnTo>
                  <a:pt x="2119781" y="0"/>
                </a:lnTo>
                <a:lnTo>
                  <a:pt x="2119781" y="4937663"/>
                </a:lnTo>
                <a:lnTo>
                  <a:pt x="0" y="49376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11003" y="9396134"/>
            <a:ext cx="3888213" cy="4987559"/>
          </a:xfrm>
          <a:custGeom>
            <a:avLst/>
            <a:gdLst/>
            <a:ahLst/>
            <a:cxnLst/>
            <a:rect r="r" b="b" t="t" l="l"/>
            <a:pathLst>
              <a:path h="4987559" w="3888213">
                <a:moveTo>
                  <a:pt x="0" y="0"/>
                </a:moveTo>
                <a:lnTo>
                  <a:pt x="3888213" y="0"/>
                </a:lnTo>
                <a:lnTo>
                  <a:pt x="3888213" y="4987559"/>
                </a:lnTo>
                <a:lnTo>
                  <a:pt x="0" y="4987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163403" y="9548534"/>
            <a:ext cx="3888213" cy="4987559"/>
          </a:xfrm>
          <a:custGeom>
            <a:avLst/>
            <a:gdLst/>
            <a:ahLst/>
            <a:cxnLst/>
            <a:rect r="r" b="b" t="t" l="l"/>
            <a:pathLst>
              <a:path h="4987559" w="3888213">
                <a:moveTo>
                  <a:pt x="0" y="0"/>
                </a:moveTo>
                <a:lnTo>
                  <a:pt x="3888213" y="0"/>
                </a:lnTo>
                <a:lnTo>
                  <a:pt x="3888213" y="4987559"/>
                </a:lnTo>
                <a:lnTo>
                  <a:pt x="0" y="4987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967431">
            <a:off x="8673846" y="-1039289"/>
            <a:ext cx="1748354" cy="3248108"/>
          </a:xfrm>
          <a:custGeom>
            <a:avLst/>
            <a:gdLst/>
            <a:ahLst/>
            <a:cxnLst/>
            <a:rect r="r" b="b" t="t" l="l"/>
            <a:pathLst>
              <a:path h="3248108" w="1748354">
                <a:moveTo>
                  <a:pt x="0" y="0"/>
                </a:moveTo>
                <a:lnTo>
                  <a:pt x="1748355" y="0"/>
                </a:lnTo>
                <a:lnTo>
                  <a:pt x="1748355" y="3248108"/>
                </a:lnTo>
                <a:lnTo>
                  <a:pt x="0" y="324810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6343508">
            <a:off x="9144784" y="-608794"/>
            <a:ext cx="3920625" cy="846749"/>
          </a:xfrm>
          <a:custGeom>
            <a:avLst/>
            <a:gdLst/>
            <a:ahLst/>
            <a:cxnLst/>
            <a:rect r="r" b="b" t="t" l="l"/>
            <a:pathLst>
              <a:path h="846749" w="3920625">
                <a:moveTo>
                  <a:pt x="0" y="0"/>
                </a:moveTo>
                <a:lnTo>
                  <a:pt x="3920624" y="0"/>
                </a:lnTo>
                <a:lnTo>
                  <a:pt x="3920624" y="846749"/>
                </a:lnTo>
                <a:lnTo>
                  <a:pt x="0" y="84674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204158">
            <a:off x="10530637" y="2208570"/>
            <a:ext cx="2440646" cy="3259627"/>
          </a:xfrm>
          <a:custGeom>
            <a:avLst/>
            <a:gdLst/>
            <a:ahLst/>
            <a:cxnLst/>
            <a:rect r="r" b="b" t="t" l="l"/>
            <a:pathLst>
              <a:path h="3259627" w="2440646">
                <a:moveTo>
                  <a:pt x="0" y="0"/>
                </a:moveTo>
                <a:lnTo>
                  <a:pt x="2440646" y="0"/>
                </a:lnTo>
                <a:lnTo>
                  <a:pt x="2440646" y="3259627"/>
                </a:lnTo>
                <a:lnTo>
                  <a:pt x="0" y="325962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36974">
            <a:off x="9466303" y="4269565"/>
            <a:ext cx="1264357" cy="3036858"/>
          </a:xfrm>
          <a:custGeom>
            <a:avLst/>
            <a:gdLst/>
            <a:ahLst/>
            <a:cxnLst/>
            <a:rect r="r" b="b" t="t" l="l"/>
            <a:pathLst>
              <a:path h="3036858" w="1264357">
                <a:moveTo>
                  <a:pt x="0" y="0"/>
                </a:moveTo>
                <a:lnTo>
                  <a:pt x="1264357" y="0"/>
                </a:lnTo>
                <a:lnTo>
                  <a:pt x="1264357" y="3036857"/>
                </a:lnTo>
                <a:lnTo>
                  <a:pt x="0" y="303685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01503" y="3371295"/>
            <a:ext cx="7428008" cy="2828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4"/>
              </a:lnSpc>
            </a:pPr>
            <a:r>
              <a:rPr lang="en-US" sz="104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NÃO É SÓ JOGAR FORA?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1503" y="6421675"/>
            <a:ext cx="7428008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SD1 - NÃO EXISTE PLANETA 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01503" y="2311507"/>
            <a:ext cx="7428008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AULA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8276" y="1257300"/>
            <a:ext cx="13971448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LIXO X RESÍDUO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95169" y="2849035"/>
            <a:ext cx="6628788" cy="2552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- Tudo que não tem mais utilidade ou valor.</a:t>
            </a:r>
          </a:p>
          <a:p>
            <a:pPr algn="ctr">
              <a:lnSpc>
                <a:spcPts val="4115"/>
              </a:lnSpc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- 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Não pode ser re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aproveitado ou reciclado.</a:t>
            </a:r>
          </a:p>
          <a:p>
            <a:pPr algn="ctr">
              <a:lnSpc>
                <a:spcPts val="4115"/>
              </a:lnSpc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- Exemplo: restos de comida estragada, papel higiênico usado.</a:t>
            </a:r>
          </a:p>
          <a:p>
            <a:pPr algn="just" marL="0" indent="0" lvl="0">
              <a:lnSpc>
                <a:spcPts val="411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039468" y="8029212"/>
            <a:ext cx="2227688" cy="4752402"/>
          </a:xfrm>
          <a:custGeom>
            <a:avLst/>
            <a:gdLst/>
            <a:ahLst/>
            <a:cxnLst/>
            <a:rect r="r" b="b" t="t" l="l"/>
            <a:pathLst>
              <a:path h="4752402" w="2227688">
                <a:moveTo>
                  <a:pt x="0" y="0"/>
                </a:moveTo>
                <a:lnTo>
                  <a:pt x="2227689" y="0"/>
                </a:lnTo>
                <a:lnTo>
                  <a:pt x="2227689" y="4752402"/>
                </a:lnTo>
                <a:lnTo>
                  <a:pt x="0" y="4752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69936" y="8029212"/>
            <a:ext cx="3904056" cy="6380459"/>
          </a:xfrm>
          <a:custGeom>
            <a:avLst/>
            <a:gdLst/>
            <a:ahLst/>
            <a:cxnLst/>
            <a:rect r="r" b="b" t="t" l="l"/>
            <a:pathLst>
              <a:path h="6380459" w="3904056">
                <a:moveTo>
                  <a:pt x="0" y="0"/>
                </a:moveTo>
                <a:lnTo>
                  <a:pt x="3904057" y="0"/>
                </a:lnTo>
                <a:lnTo>
                  <a:pt x="3904057" y="6380460"/>
                </a:lnTo>
                <a:lnTo>
                  <a:pt x="0" y="63804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09563" y="8029212"/>
            <a:ext cx="1720939" cy="5138321"/>
          </a:xfrm>
          <a:custGeom>
            <a:avLst/>
            <a:gdLst/>
            <a:ahLst/>
            <a:cxnLst/>
            <a:rect r="r" b="b" t="t" l="l"/>
            <a:pathLst>
              <a:path h="5138321" w="1720939">
                <a:moveTo>
                  <a:pt x="0" y="0"/>
                </a:moveTo>
                <a:lnTo>
                  <a:pt x="1720939" y="0"/>
                </a:lnTo>
                <a:lnTo>
                  <a:pt x="1720939" y="5138321"/>
                </a:lnTo>
                <a:lnTo>
                  <a:pt x="0" y="5138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754" y="8029212"/>
            <a:ext cx="1664113" cy="3997031"/>
          </a:xfrm>
          <a:custGeom>
            <a:avLst/>
            <a:gdLst/>
            <a:ahLst/>
            <a:cxnLst/>
            <a:rect r="r" b="b" t="t" l="l"/>
            <a:pathLst>
              <a:path h="3997031" w="1664113">
                <a:moveTo>
                  <a:pt x="0" y="0"/>
                </a:moveTo>
                <a:lnTo>
                  <a:pt x="1664113" y="0"/>
                </a:lnTo>
                <a:lnTo>
                  <a:pt x="1664113" y="3997032"/>
                </a:lnTo>
                <a:lnTo>
                  <a:pt x="0" y="39970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20831" y="8029212"/>
            <a:ext cx="1399842" cy="4246659"/>
          </a:xfrm>
          <a:custGeom>
            <a:avLst/>
            <a:gdLst/>
            <a:ahLst/>
            <a:cxnLst/>
            <a:rect r="r" b="b" t="t" l="l"/>
            <a:pathLst>
              <a:path h="4246659" w="1399842">
                <a:moveTo>
                  <a:pt x="0" y="0"/>
                </a:moveTo>
                <a:lnTo>
                  <a:pt x="1399842" y="0"/>
                </a:lnTo>
                <a:lnTo>
                  <a:pt x="1399842" y="4246659"/>
                </a:lnTo>
                <a:lnTo>
                  <a:pt x="0" y="42466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40849" y="8029212"/>
            <a:ext cx="2298183" cy="5353219"/>
          </a:xfrm>
          <a:custGeom>
            <a:avLst/>
            <a:gdLst/>
            <a:ahLst/>
            <a:cxnLst/>
            <a:rect r="r" b="b" t="t" l="l"/>
            <a:pathLst>
              <a:path h="5353219" w="2298183">
                <a:moveTo>
                  <a:pt x="0" y="0"/>
                </a:moveTo>
                <a:lnTo>
                  <a:pt x="2298182" y="0"/>
                </a:lnTo>
                <a:lnTo>
                  <a:pt x="2298182" y="5353219"/>
                </a:lnTo>
                <a:lnTo>
                  <a:pt x="0" y="53532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62238" y="8029212"/>
            <a:ext cx="2692539" cy="5916308"/>
          </a:xfrm>
          <a:custGeom>
            <a:avLst/>
            <a:gdLst/>
            <a:ahLst/>
            <a:cxnLst/>
            <a:rect r="r" b="b" t="t" l="l"/>
            <a:pathLst>
              <a:path h="5916308" w="2692539">
                <a:moveTo>
                  <a:pt x="0" y="0"/>
                </a:moveTo>
                <a:lnTo>
                  <a:pt x="2692539" y="0"/>
                </a:lnTo>
                <a:lnTo>
                  <a:pt x="2692539" y="5916308"/>
                </a:lnTo>
                <a:lnTo>
                  <a:pt x="0" y="591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-5400000">
            <a:off x="1068463" y="9772104"/>
            <a:ext cx="4445998" cy="960216"/>
          </a:xfrm>
          <a:custGeom>
            <a:avLst/>
            <a:gdLst/>
            <a:ahLst/>
            <a:cxnLst/>
            <a:rect r="r" b="b" t="t" l="l"/>
            <a:pathLst>
              <a:path h="960216" w="4445998">
                <a:moveTo>
                  <a:pt x="4445998" y="960215"/>
                </a:moveTo>
                <a:lnTo>
                  <a:pt x="0" y="960215"/>
                </a:lnTo>
                <a:lnTo>
                  <a:pt x="0" y="0"/>
                </a:lnTo>
                <a:lnTo>
                  <a:pt x="4445998" y="0"/>
                </a:lnTo>
                <a:lnTo>
                  <a:pt x="4445998" y="960215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050747" y="2905823"/>
            <a:ext cx="6628788" cy="2038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- Material com potencial de reaproveitamento.</a:t>
            </a:r>
          </a:p>
          <a:p>
            <a:pPr algn="ctr">
              <a:lnSpc>
                <a:spcPts val="4115"/>
              </a:lnSpc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- P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ode ser recicl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ado, reutilizado ou compostado.</a:t>
            </a:r>
          </a:p>
          <a:p>
            <a:pPr algn="ctr" marL="0" indent="0" lvl="0">
              <a:lnSpc>
                <a:spcPts val="4115"/>
              </a:lnSpc>
              <a:spcBef>
                <a:spcPct val="0"/>
              </a:spcBef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- Exemplo: embalagens plásticas, papel, vidro, restos de alimentos.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52986" y="5830605"/>
            <a:ext cx="12982029" cy="100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15"/>
              </a:lnSpc>
              <a:spcBef>
                <a:spcPct val="0"/>
              </a:spcBef>
            </a:pP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 Política Nacional de Resíduos Sólidos (PNRS) usa o termo resíduo para destacar o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que p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ode ser re</a:t>
            </a:r>
            <a:r>
              <a:rPr lang="en-US" sz="2743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aproveitado, mostrando que a maioria do que descartamos tem valor.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0530" y="6807661"/>
            <a:ext cx="1616282" cy="16162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2306" y="6807661"/>
            <a:ext cx="1616282" cy="16162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24083" y="6807661"/>
            <a:ext cx="1616282" cy="16162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35859" y="6807661"/>
            <a:ext cx="1616282" cy="16162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7636" y="6807661"/>
            <a:ext cx="1616282" cy="16162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59412" y="6807661"/>
            <a:ext cx="1616282" cy="16162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71189" y="6807661"/>
            <a:ext cx="1616282" cy="16162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806479" y="3113972"/>
            <a:ext cx="10698461" cy="169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9"/>
              </a:lnSpc>
            </a:pPr>
            <a:r>
              <a:rPr lang="en-US" sz="12285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CLASSIFICAÇÃO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1128964">
            <a:off x="-3508704" y="-239676"/>
            <a:ext cx="6190988" cy="5602704"/>
          </a:xfrm>
          <a:custGeom>
            <a:avLst/>
            <a:gdLst/>
            <a:ahLst/>
            <a:cxnLst/>
            <a:rect r="r" b="b" t="t" l="l"/>
            <a:pathLst>
              <a:path h="5602704" w="6190988">
                <a:moveTo>
                  <a:pt x="0" y="0"/>
                </a:moveTo>
                <a:lnTo>
                  <a:pt x="6190988" y="0"/>
                </a:lnTo>
                <a:lnTo>
                  <a:pt x="6190988" y="5602704"/>
                </a:lnTo>
                <a:lnTo>
                  <a:pt x="0" y="560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104811">
            <a:off x="15617426" y="-225348"/>
            <a:ext cx="6190988" cy="5602704"/>
          </a:xfrm>
          <a:custGeom>
            <a:avLst/>
            <a:gdLst/>
            <a:ahLst/>
            <a:cxnLst/>
            <a:rect r="r" b="b" t="t" l="l"/>
            <a:pathLst>
              <a:path h="5602704" w="6190988">
                <a:moveTo>
                  <a:pt x="0" y="0"/>
                </a:moveTo>
                <a:lnTo>
                  <a:pt x="6190988" y="0"/>
                </a:lnTo>
                <a:lnTo>
                  <a:pt x="6190988" y="5602704"/>
                </a:lnTo>
                <a:lnTo>
                  <a:pt x="0" y="560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04719" y="4042094"/>
            <a:ext cx="4478562" cy="994918"/>
            <a:chOff x="0" y="0"/>
            <a:chExt cx="1541540" cy="342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1540" cy="342455"/>
            </a:xfrm>
            <a:custGeom>
              <a:avLst/>
              <a:gdLst/>
              <a:ahLst/>
              <a:cxnLst/>
              <a:rect r="r" b="b" t="t" l="l"/>
              <a:pathLst>
                <a:path h="342455" w="1541540">
                  <a:moveTo>
                    <a:pt x="171228" y="0"/>
                  </a:moveTo>
                  <a:lnTo>
                    <a:pt x="1370312" y="0"/>
                  </a:lnTo>
                  <a:cubicBezTo>
                    <a:pt x="1415725" y="0"/>
                    <a:pt x="1459277" y="18040"/>
                    <a:pt x="1491389" y="50151"/>
                  </a:cubicBezTo>
                  <a:cubicBezTo>
                    <a:pt x="1523500" y="82263"/>
                    <a:pt x="1541540" y="125815"/>
                    <a:pt x="1541540" y="171228"/>
                  </a:cubicBezTo>
                  <a:lnTo>
                    <a:pt x="1541540" y="171228"/>
                  </a:lnTo>
                  <a:cubicBezTo>
                    <a:pt x="1541540" y="265794"/>
                    <a:pt x="1464879" y="342455"/>
                    <a:pt x="1370312" y="342455"/>
                  </a:cubicBezTo>
                  <a:lnTo>
                    <a:pt x="171228" y="342455"/>
                  </a:lnTo>
                  <a:cubicBezTo>
                    <a:pt x="125815" y="342455"/>
                    <a:pt x="82263" y="324415"/>
                    <a:pt x="50151" y="292304"/>
                  </a:cubicBezTo>
                  <a:cubicBezTo>
                    <a:pt x="18040" y="260192"/>
                    <a:pt x="0" y="216640"/>
                    <a:pt x="0" y="171228"/>
                  </a:cubicBezTo>
                  <a:lnTo>
                    <a:pt x="0" y="171228"/>
                  </a:lnTo>
                  <a:cubicBezTo>
                    <a:pt x="0" y="125815"/>
                    <a:pt x="18040" y="82263"/>
                    <a:pt x="50151" y="50151"/>
                  </a:cubicBezTo>
                  <a:cubicBezTo>
                    <a:pt x="82263" y="18040"/>
                    <a:pt x="125815" y="0"/>
                    <a:pt x="171228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66675"/>
              <a:ext cx="1541540" cy="409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COMPOSIÇÃO QUÍMICA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631056" y="4042094"/>
            <a:ext cx="4132319" cy="994918"/>
            <a:chOff x="0" y="0"/>
            <a:chExt cx="1422362" cy="3424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22362" cy="342455"/>
            </a:xfrm>
            <a:custGeom>
              <a:avLst/>
              <a:gdLst/>
              <a:ahLst/>
              <a:cxnLst/>
              <a:rect r="r" b="b" t="t" l="l"/>
              <a:pathLst>
                <a:path h="342455" w="1422362">
                  <a:moveTo>
                    <a:pt x="171228" y="0"/>
                  </a:moveTo>
                  <a:lnTo>
                    <a:pt x="1251134" y="0"/>
                  </a:lnTo>
                  <a:cubicBezTo>
                    <a:pt x="1345700" y="0"/>
                    <a:pt x="1422362" y="76661"/>
                    <a:pt x="1422362" y="171228"/>
                  </a:cubicBezTo>
                  <a:lnTo>
                    <a:pt x="1422362" y="171228"/>
                  </a:lnTo>
                  <a:cubicBezTo>
                    <a:pt x="1422362" y="216640"/>
                    <a:pt x="1404322" y="260192"/>
                    <a:pt x="1372210" y="292304"/>
                  </a:cubicBezTo>
                  <a:cubicBezTo>
                    <a:pt x="1340099" y="324415"/>
                    <a:pt x="1296546" y="342455"/>
                    <a:pt x="1251134" y="342455"/>
                  </a:cubicBezTo>
                  <a:lnTo>
                    <a:pt x="171228" y="342455"/>
                  </a:lnTo>
                  <a:cubicBezTo>
                    <a:pt x="125815" y="342455"/>
                    <a:pt x="82263" y="324415"/>
                    <a:pt x="50151" y="292304"/>
                  </a:cubicBezTo>
                  <a:cubicBezTo>
                    <a:pt x="18040" y="260192"/>
                    <a:pt x="0" y="216640"/>
                    <a:pt x="0" y="171228"/>
                  </a:cubicBezTo>
                  <a:lnTo>
                    <a:pt x="0" y="171228"/>
                  </a:lnTo>
                  <a:cubicBezTo>
                    <a:pt x="0" y="125815"/>
                    <a:pt x="18040" y="82263"/>
                    <a:pt x="50151" y="50151"/>
                  </a:cubicBezTo>
                  <a:cubicBezTo>
                    <a:pt x="82263" y="18040"/>
                    <a:pt x="125815" y="0"/>
                    <a:pt x="171228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422362" cy="409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ORIGEM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57950" y="4042094"/>
            <a:ext cx="4132319" cy="994918"/>
            <a:chOff x="0" y="0"/>
            <a:chExt cx="1422362" cy="3424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2362" cy="342455"/>
            </a:xfrm>
            <a:custGeom>
              <a:avLst/>
              <a:gdLst/>
              <a:ahLst/>
              <a:cxnLst/>
              <a:rect r="r" b="b" t="t" l="l"/>
              <a:pathLst>
                <a:path h="342455" w="1422362">
                  <a:moveTo>
                    <a:pt x="171228" y="0"/>
                  </a:moveTo>
                  <a:lnTo>
                    <a:pt x="1251134" y="0"/>
                  </a:lnTo>
                  <a:cubicBezTo>
                    <a:pt x="1345700" y="0"/>
                    <a:pt x="1422362" y="76661"/>
                    <a:pt x="1422362" y="171228"/>
                  </a:cubicBezTo>
                  <a:lnTo>
                    <a:pt x="1422362" y="171228"/>
                  </a:lnTo>
                  <a:cubicBezTo>
                    <a:pt x="1422362" y="216640"/>
                    <a:pt x="1404322" y="260192"/>
                    <a:pt x="1372210" y="292304"/>
                  </a:cubicBezTo>
                  <a:cubicBezTo>
                    <a:pt x="1340099" y="324415"/>
                    <a:pt x="1296546" y="342455"/>
                    <a:pt x="1251134" y="342455"/>
                  </a:cubicBezTo>
                  <a:lnTo>
                    <a:pt x="171228" y="342455"/>
                  </a:lnTo>
                  <a:cubicBezTo>
                    <a:pt x="125815" y="342455"/>
                    <a:pt x="82263" y="324415"/>
                    <a:pt x="50151" y="292304"/>
                  </a:cubicBezTo>
                  <a:cubicBezTo>
                    <a:pt x="18040" y="260192"/>
                    <a:pt x="0" y="216640"/>
                    <a:pt x="0" y="171228"/>
                  </a:cubicBezTo>
                  <a:lnTo>
                    <a:pt x="0" y="171228"/>
                  </a:lnTo>
                  <a:cubicBezTo>
                    <a:pt x="0" y="125815"/>
                    <a:pt x="18040" y="82263"/>
                    <a:pt x="50151" y="50151"/>
                  </a:cubicBezTo>
                  <a:cubicBezTo>
                    <a:pt x="82263" y="18040"/>
                    <a:pt x="125815" y="0"/>
                    <a:pt x="171228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422362" cy="4091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One Little Font"/>
                  <a:ea typeface="One Little Font"/>
                  <a:cs typeface="One Little Font"/>
                  <a:sym typeface="One Little Font"/>
                </a:rPr>
                <a:t>NATUREZA FÍSICA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764841" y="2556210"/>
            <a:ext cx="12758318" cy="62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Os resíduos podem ser classificados de acordo com: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11748" y="953446"/>
            <a:ext cx="8664503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CLASSIFICAÇÃO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77840" y="5237037"/>
            <a:ext cx="4132319" cy="319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3027" indent="-291514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Orgânicos (restos de alimentos, folhas, madeira)</a:t>
            </a:r>
          </a:p>
          <a:p>
            <a:pPr algn="just" marL="583027" indent="-291514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Inorgânicos (plásticos, vidros, metais, borracha)</a:t>
            </a:r>
          </a:p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57950" y="5237037"/>
            <a:ext cx="4132319" cy="4225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3027" indent="-291514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Sólidos (lixo doméstico, entulho, embala</a:t>
            </a: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gens)</a:t>
            </a:r>
          </a:p>
          <a:p>
            <a:pPr algn="just" marL="583027" indent="-291514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Líquidos (esgoto, óleos, efluentes industriais)</a:t>
            </a:r>
          </a:p>
          <a:p>
            <a:pPr algn="just" marL="583027" indent="-291514" lvl="1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Gasosos (emissões de chaminés, sprays, fumaça)</a:t>
            </a:r>
          </a:p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638910" y="5237037"/>
            <a:ext cx="4132319" cy="319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Domiciliares</a:t>
            </a:r>
          </a:p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Comerciais</a:t>
            </a:r>
          </a:p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Industriais</a:t>
            </a:r>
          </a:p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Hospitalares</a:t>
            </a:r>
          </a:p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Radioativos</a:t>
            </a:r>
          </a:p>
          <a:p>
            <a:pPr algn="ctr">
              <a:lnSpc>
                <a:spcPts val="525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0530" y="6807661"/>
            <a:ext cx="1616282" cy="161628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12306" y="6807661"/>
            <a:ext cx="1616282" cy="16162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424083" y="6807661"/>
            <a:ext cx="1616282" cy="161628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35859" y="6807661"/>
            <a:ext cx="1616282" cy="16162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7636" y="6807661"/>
            <a:ext cx="1616282" cy="16162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59412" y="6807661"/>
            <a:ext cx="1616282" cy="16162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071189" y="6807661"/>
            <a:ext cx="1616282" cy="161628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87A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3806479" y="3113972"/>
            <a:ext cx="10698461" cy="1691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99"/>
              </a:lnSpc>
            </a:pPr>
            <a:r>
              <a:rPr lang="en-US" sz="12285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DESTINAÇÃO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1128964">
            <a:off x="-3508704" y="-239676"/>
            <a:ext cx="6190988" cy="5602704"/>
          </a:xfrm>
          <a:custGeom>
            <a:avLst/>
            <a:gdLst/>
            <a:ahLst/>
            <a:cxnLst/>
            <a:rect r="r" b="b" t="t" l="l"/>
            <a:pathLst>
              <a:path h="5602704" w="6190988">
                <a:moveTo>
                  <a:pt x="0" y="0"/>
                </a:moveTo>
                <a:lnTo>
                  <a:pt x="6190988" y="0"/>
                </a:lnTo>
                <a:lnTo>
                  <a:pt x="6190988" y="5602704"/>
                </a:lnTo>
                <a:lnTo>
                  <a:pt x="0" y="560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104811">
            <a:off x="15617426" y="-225348"/>
            <a:ext cx="6190988" cy="5602704"/>
          </a:xfrm>
          <a:custGeom>
            <a:avLst/>
            <a:gdLst/>
            <a:ahLst/>
            <a:cxnLst/>
            <a:rect r="r" b="b" t="t" l="l"/>
            <a:pathLst>
              <a:path h="5602704" w="6190988">
                <a:moveTo>
                  <a:pt x="0" y="0"/>
                </a:moveTo>
                <a:lnTo>
                  <a:pt x="6190988" y="0"/>
                </a:lnTo>
                <a:lnTo>
                  <a:pt x="6190988" y="5602704"/>
                </a:lnTo>
                <a:lnTo>
                  <a:pt x="0" y="5602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6982" y="-520223"/>
            <a:ext cx="10727565" cy="1072756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5755" y="3745744"/>
            <a:ext cx="7573512" cy="462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Um lixão é um d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epósito irregular e não planeado de resíduos a céu aberto, sem medidas de proteção ambiental ou saúde pública, onde o lixo é simplesmente descartado, contaminando solo, água e ar, atraindo vetores de doenças e causando problemas de saúde pública e ambientais.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5755" y="1802644"/>
            <a:ext cx="1028258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LIXÕES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6982" y="-520223"/>
            <a:ext cx="10727565" cy="1072756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-40090" t="0" r="-4009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5755" y="3503180"/>
            <a:ext cx="8347467" cy="5295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Um at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erro controlado é uma instalação para disposição de resíduos que representa um avanço em relação a um lixão, mas é inferior a um aterro sanitário, pois não possui impermeabilização do solo nem tratamento eficaz do chorume e dos gases, resultando em contaminação e emissão de gases de efeito estufa.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5755" y="735476"/>
            <a:ext cx="10282588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ATERRO </a:t>
            </a:r>
          </a:p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CONTROLADO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6982" y="-520223"/>
            <a:ext cx="10727565" cy="1072756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-37145" t="0" r="-3714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5755" y="3295666"/>
            <a:ext cx="7736450" cy="5962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Um at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erro sanitário é uma instalação de engenharia projetada para a disposição final segura de resíduos sólidos, com o objetivo de proteger o meio ambiente e a saúde pública. </a:t>
            </a:r>
          </a:p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Os resíduos são dispostos em camadas, compactados e cobertos com terra para evitar a exposição ao ar livre e a atração de vetores.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5755" y="735476"/>
            <a:ext cx="10282588" cy="2695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ATERRO </a:t>
            </a:r>
          </a:p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SANITÁRIO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46982" y="-520223"/>
            <a:ext cx="10727565" cy="10727565"/>
            <a:chOff x="0" y="0"/>
            <a:chExt cx="63500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41020" y="537210"/>
              <a:ext cx="5255260" cy="5255260"/>
            </a:xfrm>
            <a:custGeom>
              <a:avLst/>
              <a:gdLst/>
              <a:ahLst/>
              <a:cxnLst/>
              <a:rect r="r" b="b" t="t" l="l"/>
              <a:pathLst>
                <a:path h="5255260" w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35755" y="3612516"/>
            <a:ext cx="7593879" cy="462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A in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cineração de resíduos hospitalares é um processo de alta temperatura que destrói microrganismos e outras substâncias perigosas em resíduos de serviços de saúde, como seringas, bolsas de sangue e curativos, para prevenir a contaminação.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5755" y="1397463"/>
            <a:ext cx="10282588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99"/>
              </a:lnSpc>
            </a:pPr>
            <a:r>
              <a:rPr lang="en-US" sz="9999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INCINERAÇÃO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770474" y="2862060"/>
          <a:ext cx="12747052" cy="6168243"/>
        </p:xfrm>
        <a:graphic>
          <a:graphicData uri="http://schemas.openxmlformats.org/drawingml/2006/table">
            <a:tbl>
              <a:tblPr/>
              <a:tblGrid>
                <a:gridCol w="4249017"/>
                <a:gridCol w="4249017"/>
                <a:gridCol w="4249017"/>
              </a:tblGrid>
              <a:tr h="105426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ne Little Font Bold"/>
                          <a:ea typeface="One Little Font Bold"/>
                          <a:cs typeface="One Little Font Bold"/>
                          <a:sym typeface="One Little Font Bold"/>
                        </a:rPr>
                        <a:t>DESTINAÇÃO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ne Little Font Bold"/>
                          <a:ea typeface="One Little Font Bold"/>
                          <a:cs typeface="One Little Font Bold"/>
                          <a:sym typeface="One Little Font Bold"/>
                        </a:rPr>
                        <a:t>VANTAGENS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DESVANTAGENS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</a:tr>
              <a:tr h="17667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ATERRO SANITÁRIO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O solo é tratado, nivelado, há drenagem para o chorume e captação de gás.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9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Vida curta (20 anos).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9B3"/>
                    </a:solidFill>
                  </a:tcPr>
                </a:tc>
              </a:tr>
              <a:tr h="176583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ATERRO CONTROLADO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Intermédio entre o aterro e o lixão: possui uma cobertura de solo.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9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Não tem impermeabilização do solo, captação de gás e tratamento de chorume.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9B3"/>
                    </a:solidFill>
                  </a:tcPr>
                </a:tc>
              </a:tr>
              <a:tr h="15813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LIXÃO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ED9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Não há - falsa solução para o problema.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9B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ne Little Font"/>
                          <a:ea typeface="One Little Font"/>
                          <a:cs typeface="One Little Font"/>
                          <a:sym typeface="One Little Font"/>
                        </a:rPr>
                        <a:t>Lixo a céu aberto: contamina água, ar, solo, lençol freático, atrai vetores de doenças.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9B3"/>
                    </a:solidFill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158276" y="1257300"/>
            <a:ext cx="13971448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DESTINAÇÃO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5636" y="1028700"/>
            <a:ext cx="8711344" cy="8460893"/>
          </a:xfrm>
          <a:custGeom>
            <a:avLst/>
            <a:gdLst/>
            <a:ahLst/>
            <a:cxnLst/>
            <a:rect r="r" b="b" t="t" l="l"/>
            <a:pathLst>
              <a:path h="8460893" w="8711344">
                <a:moveTo>
                  <a:pt x="0" y="0"/>
                </a:moveTo>
                <a:lnTo>
                  <a:pt x="8711343" y="0"/>
                </a:lnTo>
                <a:lnTo>
                  <a:pt x="8711343" y="8460893"/>
                </a:lnTo>
                <a:lnTo>
                  <a:pt x="0" y="8460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64775" y="1094362"/>
            <a:ext cx="9796164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LOGÍSTICA REVERSA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662047"/>
            <a:ext cx="8716939" cy="3295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É um conjunto de ações para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coletar e retornar produtos e embalagens ao setor produtivo ou a outros ciclos produtivos após o uso, viabilizando seu reaproveitamento, reciclagem ou descarte ambientalmente correto.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70446" y="656222"/>
            <a:ext cx="1579388" cy="1532006"/>
          </a:xfrm>
          <a:custGeom>
            <a:avLst/>
            <a:gdLst/>
            <a:ahLst/>
            <a:cxnLst/>
            <a:rect r="r" b="b" t="t" l="l"/>
            <a:pathLst>
              <a:path h="1532006" w="1579388">
                <a:moveTo>
                  <a:pt x="0" y="0"/>
                </a:moveTo>
                <a:lnTo>
                  <a:pt x="1579388" y="0"/>
                </a:lnTo>
                <a:lnTo>
                  <a:pt x="1579388" y="1532007"/>
                </a:lnTo>
                <a:lnTo>
                  <a:pt x="0" y="15320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64413" y="4655648"/>
            <a:ext cx="6908296" cy="4602652"/>
          </a:xfrm>
          <a:custGeom>
            <a:avLst/>
            <a:gdLst/>
            <a:ahLst/>
            <a:cxnLst/>
            <a:rect r="r" b="b" t="t" l="l"/>
            <a:pathLst>
              <a:path h="4602652" w="6908296">
                <a:moveTo>
                  <a:pt x="0" y="0"/>
                </a:moveTo>
                <a:lnTo>
                  <a:pt x="6908296" y="0"/>
                </a:lnTo>
                <a:lnTo>
                  <a:pt x="6908296" y="4602652"/>
                </a:lnTo>
                <a:lnTo>
                  <a:pt x="0" y="460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4674" y="4668561"/>
            <a:ext cx="6888913" cy="4589739"/>
          </a:xfrm>
          <a:custGeom>
            <a:avLst/>
            <a:gdLst/>
            <a:ahLst/>
            <a:cxnLst/>
            <a:rect r="r" b="b" t="t" l="l"/>
            <a:pathLst>
              <a:path h="4589739" w="6888913">
                <a:moveTo>
                  <a:pt x="0" y="0"/>
                </a:moveTo>
                <a:lnTo>
                  <a:pt x="6888913" y="0"/>
                </a:lnTo>
                <a:lnTo>
                  <a:pt x="6888913" y="4589739"/>
                </a:lnTo>
                <a:lnTo>
                  <a:pt x="0" y="4589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45423" y="1257300"/>
            <a:ext cx="13971448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COMPOSTAGEM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29036" y="2562341"/>
            <a:ext cx="14029927" cy="129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Reutilização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do lixo orgânico. Transforma a matéria orgânica encontrada no lixo em adubo natural.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6263" y="856230"/>
            <a:ext cx="1711665" cy="1619663"/>
          </a:xfrm>
          <a:custGeom>
            <a:avLst/>
            <a:gdLst/>
            <a:ahLst/>
            <a:cxnLst/>
            <a:rect r="r" b="b" t="t" l="l"/>
            <a:pathLst>
              <a:path h="1619663" w="1711665">
                <a:moveTo>
                  <a:pt x="0" y="0"/>
                </a:moveTo>
                <a:lnTo>
                  <a:pt x="1711666" y="0"/>
                </a:lnTo>
                <a:lnTo>
                  <a:pt x="1711666" y="1619663"/>
                </a:lnTo>
                <a:lnTo>
                  <a:pt x="0" y="1619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129036" y="4165221"/>
            <a:ext cx="8625237" cy="5140175"/>
          </a:xfrm>
          <a:custGeom>
            <a:avLst/>
            <a:gdLst/>
            <a:ahLst/>
            <a:cxnLst/>
            <a:rect r="r" b="b" t="t" l="l"/>
            <a:pathLst>
              <a:path h="5140175" w="8625237">
                <a:moveTo>
                  <a:pt x="0" y="0"/>
                </a:moveTo>
                <a:lnTo>
                  <a:pt x="8625238" y="0"/>
                </a:lnTo>
                <a:lnTo>
                  <a:pt x="8625238" y="5140176"/>
                </a:lnTo>
                <a:lnTo>
                  <a:pt x="0" y="5140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57160" y="4537343"/>
            <a:ext cx="5489521" cy="5407747"/>
            <a:chOff x="0" y="0"/>
            <a:chExt cx="1445800" cy="142426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5800" cy="1424263"/>
            </a:xfrm>
            <a:custGeom>
              <a:avLst/>
              <a:gdLst/>
              <a:ahLst/>
              <a:cxnLst/>
              <a:rect r="r" b="b" t="t" l="l"/>
              <a:pathLst>
                <a:path h="1424263" w="1445800">
                  <a:moveTo>
                    <a:pt x="0" y="0"/>
                  </a:moveTo>
                  <a:lnTo>
                    <a:pt x="1445800" y="0"/>
                  </a:lnTo>
                  <a:lnTo>
                    <a:pt x="1445800" y="1424263"/>
                  </a:lnTo>
                  <a:lnTo>
                    <a:pt x="0" y="1424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1A5E37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45800" cy="1462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03318" y="4663538"/>
            <a:ext cx="4597204" cy="65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Não podemos esquecer: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950592" y="5309316"/>
            <a:ext cx="2985335" cy="2985335"/>
          </a:xfrm>
          <a:custGeom>
            <a:avLst/>
            <a:gdLst/>
            <a:ahLst/>
            <a:cxnLst/>
            <a:rect r="r" b="b" t="t" l="l"/>
            <a:pathLst>
              <a:path h="2985335" w="2985335">
                <a:moveTo>
                  <a:pt x="0" y="0"/>
                </a:moveTo>
                <a:lnTo>
                  <a:pt x="2985335" y="0"/>
                </a:lnTo>
                <a:lnTo>
                  <a:pt x="2985335" y="2985336"/>
                </a:lnTo>
                <a:lnTo>
                  <a:pt x="0" y="29853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28689" y="6828968"/>
            <a:ext cx="3178479" cy="3178479"/>
          </a:xfrm>
          <a:custGeom>
            <a:avLst/>
            <a:gdLst/>
            <a:ahLst/>
            <a:cxnLst/>
            <a:rect r="r" b="b" t="t" l="l"/>
            <a:pathLst>
              <a:path h="3178479" w="3178479">
                <a:moveTo>
                  <a:pt x="0" y="0"/>
                </a:moveTo>
                <a:lnTo>
                  <a:pt x="3178479" y="0"/>
                </a:lnTo>
                <a:lnTo>
                  <a:pt x="317847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05049" y="8141593"/>
            <a:ext cx="1541632" cy="1655443"/>
          </a:xfrm>
          <a:custGeom>
            <a:avLst/>
            <a:gdLst/>
            <a:ahLst/>
            <a:cxnLst/>
            <a:rect r="r" b="b" t="t" l="l"/>
            <a:pathLst>
              <a:path h="1655443" w="1541632">
                <a:moveTo>
                  <a:pt x="0" y="0"/>
                </a:moveTo>
                <a:lnTo>
                  <a:pt x="1541632" y="0"/>
                </a:lnTo>
                <a:lnTo>
                  <a:pt x="1541632" y="1655443"/>
                </a:lnTo>
                <a:lnTo>
                  <a:pt x="0" y="16554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1811" y="1257300"/>
            <a:ext cx="13971448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RECICLAGEM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29036" y="2562341"/>
            <a:ext cx="14029927" cy="1295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Proc</a:t>
            </a: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esso de transformação dos resíduos sólidos que envolve a alteração de suas propriedades para produzir um novo produto.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51227" y="9435094"/>
            <a:ext cx="7980857" cy="62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SEPARAÇÃO DOS RESÍDUOS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8276" y="1257300"/>
            <a:ext cx="13971448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R’S DA SUSTENTABILIDADE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29036" y="2794652"/>
            <a:ext cx="14029927" cy="6463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1. Repensar: 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Questionar a nec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essidade e a origem dos produtos que consumimos, avaliando se realmente são necessários. </a:t>
            </a:r>
          </a:p>
          <a:p>
            <a:pPr algn="just">
              <a:lnSpc>
                <a:spcPts val="4650"/>
              </a:lnSpc>
            </a:pPr>
          </a:p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2. Recusar: 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Dizer não a produtos desnecessários ou prejudiciais ao meio ambiente, como embalagens plásticas em excesso. </a:t>
            </a:r>
          </a:p>
          <a:p>
            <a:pPr algn="just">
              <a:lnSpc>
                <a:spcPts val="4650"/>
              </a:lnSpc>
            </a:pPr>
          </a:p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3. Reduzir: 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Diminuir o consumo de bens e a geração de resíduos, optando por produtos duráveis e evitando compras impulsivas. </a:t>
            </a:r>
          </a:p>
          <a:p>
            <a:pPr algn="just">
              <a:lnSpc>
                <a:spcPts val="4650"/>
              </a:lnSpc>
            </a:pPr>
          </a:p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4. Reutilizar: 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Dar novas funções a objetos em vez de descartá-los, como usar garrafas de vidro para guardar líquidos.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8276" y="1257300"/>
            <a:ext cx="13971448" cy="1218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0"/>
              </a:lnSpc>
            </a:pPr>
            <a:r>
              <a:rPr lang="en-US" sz="95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R’S DA SUSTENTABILIDADE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129036" y="3680477"/>
            <a:ext cx="14029927" cy="469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5</a:t>
            </a: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. Reparar: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 Con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sertar produtos quebrados em vez de comprar novos, prolongando a vida útil dos objetos e economizando recursos. </a:t>
            </a:r>
          </a:p>
          <a:p>
            <a:pPr algn="just">
              <a:lnSpc>
                <a:spcPts val="4650"/>
              </a:lnSpc>
            </a:pPr>
          </a:p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6. Reciclar: 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Transformar materiais que seriam descartados em novos produtos, fechando o ciclo de vida de alguns materiais. </a:t>
            </a:r>
          </a:p>
          <a:p>
            <a:pPr algn="just">
              <a:lnSpc>
                <a:spcPts val="4650"/>
              </a:lnSpc>
            </a:pPr>
          </a:p>
          <a:p>
            <a:pPr algn="just">
              <a:lnSpc>
                <a:spcPts val="4650"/>
              </a:lnSpc>
            </a:pPr>
            <a:r>
              <a:rPr lang="en-US" b="true" sz="3100">
                <a:solidFill>
                  <a:srgbClr val="1F222B"/>
                </a:solidFill>
                <a:latin typeface="One Little Font Bold"/>
                <a:ea typeface="One Little Font Bold"/>
                <a:cs typeface="One Little Font Bold"/>
                <a:sym typeface="One Little Font Bold"/>
              </a:rPr>
              <a:t>7. Recuperar/Reintegrar: </a:t>
            </a:r>
            <a:r>
              <a:rPr lang="en-US" sz="3100">
                <a:solidFill>
                  <a:srgbClr val="1F222B"/>
                </a:solidFill>
                <a:latin typeface="One Little Font"/>
                <a:ea typeface="One Little Font"/>
                <a:cs typeface="One Little Font"/>
                <a:sym typeface="One Little Font"/>
              </a:rPr>
              <a:t>Reintroduzir resíduos orgânicos, como restos de alimentos, de volta à natureza através da compostagem, transformando-os em adubo.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08743" y="627680"/>
            <a:ext cx="1383829" cy="1502121"/>
          </a:xfrm>
          <a:custGeom>
            <a:avLst/>
            <a:gdLst/>
            <a:ahLst/>
            <a:cxnLst/>
            <a:rect r="r" b="b" t="t" l="l"/>
            <a:pathLst>
              <a:path h="1502121" w="1383829">
                <a:moveTo>
                  <a:pt x="0" y="0"/>
                </a:moveTo>
                <a:lnTo>
                  <a:pt x="1383829" y="0"/>
                </a:lnTo>
                <a:lnTo>
                  <a:pt x="1383829" y="1502122"/>
                </a:lnTo>
                <a:lnTo>
                  <a:pt x="0" y="1502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465510" y="2734926"/>
            <a:ext cx="11356980" cy="6356958"/>
            <a:chOff x="0" y="0"/>
            <a:chExt cx="15142640" cy="84759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6958" cy="8475944"/>
            </a:xfrm>
            <a:custGeom>
              <a:avLst/>
              <a:gdLst/>
              <a:ahLst/>
              <a:cxnLst/>
              <a:rect r="r" b="b" t="t" l="l"/>
              <a:pathLst>
                <a:path h="8475944" w="6356958">
                  <a:moveTo>
                    <a:pt x="0" y="0"/>
                  </a:moveTo>
                  <a:lnTo>
                    <a:pt x="6356958" y="0"/>
                  </a:lnTo>
                  <a:lnTo>
                    <a:pt x="6356958" y="8475944"/>
                  </a:lnTo>
                  <a:lnTo>
                    <a:pt x="0" y="847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8785682" y="0"/>
              <a:ext cx="6356958" cy="8475944"/>
            </a:xfrm>
            <a:custGeom>
              <a:avLst/>
              <a:gdLst/>
              <a:ahLst/>
              <a:cxnLst/>
              <a:rect r="r" b="b" t="t" l="l"/>
              <a:pathLst>
                <a:path h="8475944" w="6356958">
                  <a:moveTo>
                    <a:pt x="0" y="0"/>
                  </a:moveTo>
                  <a:lnTo>
                    <a:pt x="6356958" y="0"/>
                  </a:lnTo>
                  <a:lnTo>
                    <a:pt x="6356958" y="8475944"/>
                  </a:lnTo>
                  <a:lnTo>
                    <a:pt x="0" y="84759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752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811748" y="1133475"/>
            <a:ext cx="8664503" cy="100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5"/>
              </a:lnSpc>
            </a:pPr>
            <a:r>
              <a:rPr lang="en-US" sz="7300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SUGESTÕES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F4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7118" y="4225913"/>
            <a:ext cx="15253764" cy="2044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76"/>
              </a:lnSpc>
            </a:pPr>
            <a:r>
              <a:rPr lang="en-US" sz="14834">
                <a:solidFill>
                  <a:srgbClr val="479861"/>
                </a:solidFill>
                <a:latin typeface="Le Petit Cochon"/>
                <a:ea typeface="Le Petit Cochon"/>
                <a:cs typeface="Le Petit Cochon"/>
                <a:sym typeface="Le Petit Cochon"/>
              </a:rPr>
              <a:t>OBRIGADA(O)!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DAGxP5HXseg</dc:identifier>
  <dcterms:modified xsi:type="dcterms:W3CDTF">2011-08-01T06:04:30Z</dcterms:modified>
  <cp:revision>1</cp:revision>
  <dc:title>SD1 - Aula 2: Não é só jogar fora?</dc:title>
</cp:coreProperties>
</file>