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AN Tangkiwood" charset="1" panose="00000000000000000000"/>
      <p:regular r:id="rId24"/>
    </p:embeddedFont>
    <p:embeddedFont>
      <p:font typeface="DM Sans Bold" charset="1" panose="00000000000000000000"/>
      <p:regular r:id="rId25"/>
    </p:embeddedFont>
    <p:embeddedFont>
      <p:font typeface="DM Sans" charset="1" panose="00000000000000000000"/>
      <p:regular r:id="rId26"/>
    </p:embeddedFont>
    <p:embeddedFont>
      <p:font typeface="Canva Sans" charset="1" panose="020B0503030501040103"/>
      <p:regular r:id="rId27"/>
    </p:embeddedFont>
    <p:embeddedFont>
      <p:font typeface="Canva Sans Bold" charset="1" panose="020B08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.png" Type="http://schemas.openxmlformats.org/officeDocument/2006/relationships/image"/><Relationship Id="rId4" Target="../media/image24.jpeg" Type="http://schemas.openxmlformats.org/officeDocument/2006/relationships/image"/><Relationship Id="rId5" Target="https://www.youtube.com/watch?v=NTtyMoNftrg" TargetMode="External" Type="http://schemas.openxmlformats.org/officeDocument/2006/relationships/video"/><Relationship Id="rId6" Target="https://www.youtube.com/watch?v=NTtyMoNftrg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8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5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82432" y="2094765"/>
            <a:ext cx="2446268" cy="6725134"/>
          </a:xfrm>
          <a:custGeom>
            <a:avLst/>
            <a:gdLst/>
            <a:ahLst/>
            <a:cxnLst/>
            <a:rect r="r" b="b" t="t" l="l"/>
            <a:pathLst>
              <a:path h="6725134" w="2446268">
                <a:moveTo>
                  <a:pt x="0" y="0"/>
                </a:moveTo>
                <a:lnTo>
                  <a:pt x="2446268" y="0"/>
                </a:lnTo>
                <a:lnTo>
                  <a:pt x="2446268" y="6725134"/>
                </a:lnTo>
                <a:lnTo>
                  <a:pt x="0" y="6725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1763">
            <a:off x="5634093" y="2071190"/>
            <a:ext cx="7559523" cy="9434662"/>
          </a:xfrm>
          <a:custGeom>
            <a:avLst/>
            <a:gdLst/>
            <a:ahLst/>
            <a:cxnLst/>
            <a:rect r="r" b="b" t="t" l="l"/>
            <a:pathLst>
              <a:path h="9434662" w="7559523">
                <a:moveTo>
                  <a:pt x="0" y="0"/>
                </a:moveTo>
                <a:lnTo>
                  <a:pt x="7559523" y="0"/>
                </a:lnTo>
                <a:lnTo>
                  <a:pt x="7559523" y="9434662"/>
                </a:lnTo>
                <a:lnTo>
                  <a:pt x="0" y="943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8224">
            <a:off x="15549718" y="-1447906"/>
            <a:ext cx="6768141" cy="8446978"/>
          </a:xfrm>
          <a:custGeom>
            <a:avLst/>
            <a:gdLst/>
            <a:ahLst/>
            <a:cxnLst/>
            <a:rect r="r" b="b" t="t" l="l"/>
            <a:pathLst>
              <a:path h="8446978" w="6768141">
                <a:moveTo>
                  <a:pt x="0" y="0"/>
                </a:moveTo>
                <a:lnTo>
                  <a:pt x="6768141" y="0"/>
                </a:lnTo>
                <a:lnTo>
                  <a:pt x="6768141" y="8446978"/>
                </a:lnTo>
                <a:lnTo>
                  <a:pt x="0" y="8446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74384">
            <a:off x="-2897230" y="5092320"/>
            <a:ext cx="6910753" cy="8624965"/>
          </a:xfrm>
          <a:custGeom>
            <a:avLst/>
            <a:gdLst/>
            <a:ahLst/>
            <a:cxnLst/>
            <a:rect r="r" b="b" t="t" l="l"/>
            <a:pathLst>
              <a:path h="8624965" w="6910753">
                <a:moveTo>
                  <a:pt x="0" y="0"/>
                </a:moveTo>
                <a:lnTo>
                  <a:pt x="6910753" y="0"/>
                </a:lnTo>
                <a:lnTo>
                  <a:pt x="6910753" y="8624965"/>
                </a:lnTo>
                <a:lnTo>
                  <a:pt x="0" y="8624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58246" y="4735310"/>
            <a:ext cx="11371509" cy="339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50"/>
              </a:lnSpc>
            </a:pPr>
            <a:r>
              <a:rPr lang="en-US" sz="16588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Do petróleo ao plástico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30352">
            <a:off x="-363087" y="627911"/>
            <a:ext cx="3579123" cy="2603812"/>
          </a:xfrm>
          <a:custGeom>
            <a:avLst/>
            <a:gdLst/>
            <a:ahLst/>
            <a:cxnLst/>
            <a:rect r="r" b="b" t="t" l="l"/>
            <a:pathLst>
              <a:path h="2603812" w="3579123">
                <a:moveTo>
                  <a:pt x="0" y="0"/>
                </a:moveTo>
                <a:lnTo>
                  <a:pt x="3579123" y="0"/>
                </a:lnTo>
                <a:lnTo>
                  <a:pt x="3579123" y="2603812"/>
                </a:lnTo>
                <a:lnTo>
                  <a:pt x="0" y="26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1660">
            <a:off x="14871101" y="7622800"/>
            <a:ext cx="3957870" cy="2958508"/>
          </a:xfrm>
          <a:custGeom>
            <a:avLst/>
            <a:gdLst/>
            <a:ahLst/>
            <a:cxnLst/>
            <a:rect r="r" b="b" t="t" l="l"/>
            <a:pathLst>
              <a:path h="2958508" w="3957870">
                <a:moveTo>
                  <a:pt x="0" y="0"/>
                </a:moveTo>
                <a:lnTo>
                  <a:pt x="3957870" y="0"/>
                </a:lnTo>
                <a:lnTo>
                  <a:pt x="3957870" y="2958508"/>
                </a:lnTo>
                <a:lnTo>
                  <a:pt x="0" y="2958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941078">
            <a:off x="1364239" y="-327741"/>
            <a:ext cx="2172053" cy="3642855"/>
          </a:xfrm>
          <a:custGeom>
            <a:avLst/>
            <a:gdLst/>
            <a:ahLst/>
            <a:cxnLst/>
            <a:rect r="r" b="b" t="t" l="l"/>
            <a:pathLst>
              <a:path h="3642855" w="2172053">
                <a:moveTo>
                  <a:pt x="0" y="0"/>
                </a:moveTo>
                <a:lnTo>
                  <a:pt x="2172053" y="0"/>
                </a:lnTo>
                <a:lnTo>
                  <a:pt x="2172053" y="3642856"/>
                </a:lnTo>
                <a:lnTo>
                  <a:pt x="0" y="3642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99667" y="8593526"/>
            <a:ext cx="4460097" cy="2469779"/>
          </a:xfrm>
          <a:custGeom>
            <a:avLst/>
            <a:gdLst/>
            <a:ahLst/>
            <a:cxnLst/>
            <a:rect r="r" b="b" t="t" l="l"/>
            <a:pathLst>
              <a:path h="2469779" w="4460097">
                <a:moveTo>
                  <a:pt x="0" y="0"/>
                </a:moveTo>
                <a:lnTo>
                  <a:pt x="4460097" y="0"/>
                </a:lnTo>
                <a:lnTo>
                  <a:pt x="4460097" y="2469778"/>
                </a:lnTo>
                <a:lnTo>
                  <a:pt x="0" y="246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12955" y="8230880"/>
            <a:ext cx="906209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300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AULA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7290" y="238206"/>
            <a:ext cx="5253420" cy="111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>
                <a:solidFill>
                  <a:srgbClr val="F4AFBF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SEQUÊNCIA DIDÁTICA </a:t>
            </a:r>
          </a:p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612955" y="1299377"/>
            <a:ext cx="906209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30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PLÁSTICO É A ALMA DO NEGÓCIO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5474" y="322050"/>
            <a:ext cx="9533683" cy="14499897"/>
          </a:xfrm>
          <a:custGeom>
            <a:avLst/>
            <a:gdLst/>
            <a:ahLst/>
            <a:cxnLst/>
            <a:rect r="r" b="b" t="t" l="l"/>
            <a:pathLst>
              <a:path h="14499897" w="9533683">
                <a:moveTo>
                  <a:pt x="0" y="0"/>
                </a:moveTo>
                <a:lnTo>
                  <a:pt x="9533682" y="0"/>
                </a:lnTo>
                <a:lnTo>
                  <a:pt x="9533682" y="14499897"/>
                </a:lnTo>
                <a:lnTo>
                  <a:pt x="0" y="14499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24312">
            <a:off x="4101478" y="8175411"/>
            <a:ext cx="5554140" cy="5498598"/>
          </a:xfrm>
          <a:custGeom>
            <a:avLst/>
            <a:gdLst/>
            <a:ahLst/>
            <a:cxnLst/>
            <a:rect r="r" b="b" t="t" l="l"/>
            <a:pathLst>
              <a:path h="5498598" w="5554140">
                <a:moveTo>
                  <a:pt x="0" y="0"/>
                </a:moveTo>
                <a:lnTo>
                  <a:pt x="5554140" y="0"/>
                </a:lnTo>
                <a:lnTo>
                  <a:pt x="5554140" y="5498598"/>
                </a:lnTo>
                <a:lnTo>
                  <a:pt x="0" y="5498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5474" y="1775218"/>
            <a:ext cx="1903675" cy="2594446"/>
          </a:xfrm>
          <a:custGeom>
            <a:avLst/>
            <a:gdLst/>
            <a:ahLst/>
            <a:cxnLst/>
            <a:rect r="r" b="b" t="t" l="l"/>
            <a:pathLst>
              <a:path h="2594446" w="1903675">
                <a:moveTo>
                  <a:pt x="0" y="0"/>
                </a:moveTo>
                <a:lnTo>
                  <a:pt x="1903675" y="0"/>
                </a:lnTo>
                <a:lnTo>
                  <a:pt x="1903675" y="2594446"/>
                </a:lnTo>
                <a:lnTo>
                  <a:pt x="0" y="2594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13577">
            <a:off x="-189494" y="-478703"/>
            <a:ext cx="1970744" cy="3678071"/>
          </a:xfrm>
          <a:custGeom>
            <a:avLst/>
            <a:gdLst/>
            <a:ahLst/>
            <a:cxnLst/>
            <a:rect r="r" b="b" t="t" l="l"/>
            <a:pathLst>
              <a:path h="3678071" w="1970744">
                <a:moveTo>
                  <a:pt x="0" y="0"/>
                </a:moveTo>
                <a:lnTo>
                  <a:pt x="1970743" y="0"/>
                </a:lnTo>
                <a:lnTo>
                  <a:pt x="1970743" y="3678071"/>
                </a:lnTo>
                <a:lnTo>
                  <a:pt x="0" y="36780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1567" y="1960749"/>
            <a:ext cx="5954589" cy="13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9"/>
              </a:lnSpc>
            </a:pPr>
            <a:r>
              <a:rPr lang="en-US" sz="8999">
                <a:solidFill>
                  <a:srgbClr val="085281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Índice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43621" y="4379189"/>
            <a:ext cx="6633303" cy="120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20"/>
              </a:lnSpc>
            </a:pPr>
            <a:r>
              <a:rPr lang="en-US" sz="8000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Resumo do teste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69056" y="6374255"/>
            <a:ext cx="501242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O plástico e suas propriedades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7076" y="6374255"/>
            <a:ext cx="119259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</a:pPr>
            <a:r>
              <a:rPr lang="en-US" b="true" sz="2499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Parte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69056" y="7425929"/>
            <a:ext cx="5134413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O petróleo e suas características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7076" y="7425929"/>
            <a:ext cx="119259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</a:pPr>
            <a:r>
              <a:rPr lang="en-US" b="true" sz="2499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Parte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9056" y="8477603"/>
            <a:ext cx="5134413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Hidrocarbonetos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7076" y="8477603"/>
            <a:ext cx="119259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</a:pPr>
            <a:r>
              <a:rPr lang="en-US" b="true" sz="2499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Parte 3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C8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34755">
            <a:off x="15520882" y="514213"/>
            <a:ext cx="2843081" cy="7816031"/>
          </a:xfrm>
          <a:custGeom>
            <a:avLst/>
            <a:gdLst/>
            <a:ahLst/>
            <a:cxnLst/>
            <a:rect r="r" b="b" t="t" l="l"/>
            <a:pathLst>
              <a:path h="7816031" w="2843081">
                <a:moveTo>
                  <a:pt x="0" y="0"/>
                </a:moveTo>
                <a:lnTo>
                  <a:pt x="2843082" y="0"/>
                </a:lnTo>
                <a:lnTo>
                  <a:pt x="2843082" y="7816031"/>
                </a:lnTo>
                <a:lnTo>
                  <a:pt x="0" y="781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94569" y="3779771"/>
            <a:ext cx="11698863" cy="317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29"/>
              </a:lnSpc>
            </a:pPr>
            <a:r>
              <a:rPr lang="en-US" sz="12999" strike="noStrike" u="none">
                <a:solidFill>
                  <a:srgbClr val="21221C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O plástico e suas propriedades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89948">
            <a:off x="8640971" y="1086534"/>
            <a:ext cx="1261833" cy="3254248"/>
          </a:xfrm>
          <a:custGeom>
            <a:avLst/>
            <a:gdLst/>
            <a:ahLst/>
            <a:cxnLst/>
            <a:rect r="r" b="b" t="t" l="l"/>
            <a:pathLst>
              <a:path h="3254248" w="1261833">
                <a:moveTo>
                  <a:pt x="0" y="0"/>
                </a:moveTo>
                <a:lnTo>
                  <a:pt x="1261834" y="0"/>
                </a:lnTo>
                <a:lnTo>
                  <a:pt x="1261834" y="3254248"/>
                </a:lnTo>
                <a:lnTo>
                  <a:pt x="0" y="3254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2848" t="-37202" r="-188695" b="-8219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26889" y="2214495"/>
            <a:ext cx="9834222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 strike="noStrike" u="none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PARTE 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819454">
            <a:off x="2996213" y="-3131837"/>
            <a:ext cx="2843081" cy="7816031"/>
          </a:xfrm>
          <a:custGeom>
            <a:avLst/>
            <a:gdLst/>
            <a:ahLst/>
            <a:cxnLst/>
            <a:rect r="r" b="b" t="t" l="l"/>
            <a:pathLst>
              <a:path h="7816031" w="2843081">
                <a:moveTo>
                  <a:pt x="0" y="0"/>
                </a:moveTo>
                <a:lnTo>
                  <a:pt x="2843081" y="0"/>
                </a:lnTo>
                <a:lnTo>
                  <a:pt x="2843081" y="7816031"/>
                </a:lnTo>
                <a:lnTo>
                  <a:pt x="0" y="781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766182">
            <a:off x="4748424" y="6599433"/>
            <a:ext cx="2843081" cy="7816031"/>
          </a:xfrm>
          <a:custGeom>
            <a:avLst/>
            <a:gdLst/>
            <a:ahLst/>
            <a:cxnLst/>
            <a:rect r="r" b="b" t="t" l="l"/>
            <a:pathLst>
              <a:path h="7816031" w="2843081">
                <a:moveTo>
                  <a:pt x="0" y="0"/>
                </a:moveTo>
                <a:lnTo>
                  <a:pt x="2843081" y="0"/>
                </a:lnTo>
                <a:lnTo>
                  <a:pt x="2843081" y="7816032"/>
                </a:lnTo>
                <a:lnTo>
                  <a:pt x="0" y="7816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28707">
            <a:off x="1329517" y="5060587"/>
            <a:ext cx="2018475" cy="3385283"/>
          </a:xfrm>
          <a:custGeom>
            <a:avLst/>
            <a:gdLst/>
            <a:ahLst/>
            <a:cxnLst/>
            <a:rect r="r" b="b" t="t" l="l"/>
            <a:pathLst>
              <a:path h="3385283" w="2018475">
                <a:moveTo>
                  <a:pt x="0" y="0"/>
                </a:moveTo>
                <a:lnTo>
                  <a:pt x="2018475" y="0"/>
                </a:lnTo>
                <a:lnTo>
                  <a:pt x="2018475" y="3385283"/>
                </a:lnTo>
                <a:lnTo>
                  <a:pt x="0" y="338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780002">
            <a:off x="13440507" y="6235371"/>
            <a:ext cx="2018475" cy="3385283"/>
          </a:xfrm>
          <a:custGeom>
            <a:avLst/>
            <a:gdLst/>
            <a:ahLst/>
            <a:cxnLst/>
            <a:rect r="r" b="b" t="t" l="l"/>
            <a:pathLst>
              <a:path h="3385283" w="2018475">
                <a:moveTo>
                  <a:pt x="0" y="0"/>
                </a:moveTo>
                <a:lnTo>
                  <a:pt x="2018475" y="0"/>
                </a:lnTo>
                <a:lnTo>
                  <a:pt x="2018475" y="3385283"/>
                </a:lnTo>
                <a:lnTo>
                  <a:pt x="0" y="338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228898">
            <a:off x="10233303" y="-1528745"/>
            <a:ext cx="2018475" cy="3385283"/>
          </a:xfrm>
          <a:custGeom>
            <a:avLst/>
            <a:gdLst/>
            <a:ahLst/>
            <a:cxnLst/>
            <a:rect r="r" b="b" t="t" l="l"/>
            <a:pathLst>
              <a:path h="3385283" w="2018475">
                <a:moveTo>
                  <a:pt x="0" y="0"/>
                </a:moveTo>
                <a:lnTo>
                  <a:pt x="2018475" y="0"/>
                </a:lnTo>
                <a:lnTo>
                  <a:pt x="2018475" y="3385283"/>
                </a:lnTo>
                <a:lnTo>
                  <a:pt x="0" y="338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597747" y="7084348"/>
            <a:ext cx="8717602" cy="4347904"/>
          </a:xfrm>
          <a:custGeom>
            <a:avLst/>
            <a:gdLst/>
            <a:ahLst/>
            <a:cxnLst/>
            <a:rect r="r" b="b" t="t" l="l"/>
            <a:pathLst>
              <a:path h="4347904" w="8717602">
                <a:moveTo>
                  <a:pt x="8717602" y="0"/>
                </a:moveTo>
                <a:lnTo>
                  <a:pt x="0" y="0"/>
                </a:lnTo>
                <a:lnTo>
                  <a:pt x="0" y="4347904"/>
                </a:lnTo>
                <a:lnTo>
                  <a:pt x="8717602" y="4347904"/>
                </a:lnTo>
                <a:lnTo>
                  <a:pt x="87176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74999">
            <a:off x="1054967" y="2569269"/>
            <a:ext cx="5027363" cy="6274400"/>
          </a:xfrm>
          <a:custGeom>
            <a:avLst/>
            <a:gdLst/>
            <a:ahLst/>
            <a:cxnLst/>
            <a:rect r="r" b="b" t="t" l="l"/>
            <a:pathLst>
              <a:path h="6274400" w="5027363">
                <a:moveTo>
                  <a:pt x="5027364" y="0"/>
                </a:moveTo>
                <a:lnTo>
                  <a:pt x="0" y="0"/>
                </a:lnTo>
                <a:lnTo>
                  <a:pt x="0" y="6274400"/>
                </a:lnTo>
                <a:lnTo>
                  <a:pt x="5027364" y="6274400"/>
                </a:lnTo>
                <a:lnTo>
                  <a:pt x="5027364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91804" y="2985587"/>
            <a:ext cx="5022699" cy="6138854"/>
          </a:xfrm>
          <a:custGeom>
            <a:avLst/>
            <a:gdLst/>
            <a:ahLst/>
            <a:cxnLst/>
            <a:rect r="r" b="b" t="t" l="l"/>
            <a:pathLst>
              <a:path h="6138854" w="5022699">
                <a:moveTo>
                  <a:pt x="0" y="0"/>
                </a:moveTo>
                <a:lnTo>
                  <a:pt x="5022698" y="0"/>
                </a:lnTo>
                <a:lnTo>
                  <a:pt x="5022698" y="6138854"/>
                </a:lnTo>
                <a:lnTo>
                  <a:pt x="0" y="6138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74285">
            <a:off x="1498418" y="5817886"/>
            <a:ext cx="1707504" cy="3186777"/>
          </a:xfrm>
          <a:custGeom>
            <a:avLst/>
            <a:gdLst/>
            <a:ahLst/>
            <a:cxnLst/>
            <a:rect r="r" b="b" t="t" l="l"/>
            <a:pathLst>
              <a:path h="3186777" w="1707504">
                <a:moveTo>
                  <a:pt x="0" y="0"/>
                </a:moveTo>
                <a:lnTo>
                  <a:pt x="1707504" y="0"/>
                </a:lnTo>
                <a:lnTo>
                  <a:pt x="1707504" y="3186777"/>
                </a:lnTo>
                <a:lnTo>
                  <a:pt x="0" y="3186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38356" y="2631844"/>
            <a:ext cx="8908026" cy="595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 p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lásticos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tencem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um gru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materiais chamados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polí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meros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termo que significa a união de muitas pequenas unidades químicas que se ligam para formar cadeias maiores. Essas estruturas são compostas, em sua maioria, por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átomos de carbono e hidrogênio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Por apresentarem grande flexibilidade de uso, facilidade de moldagem e custo relativamente baixo, os plásticos se tornaram amplamente utilizados no cotidiano.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07256" y="1658185"/>
            <a:ext cx="6970225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O QUE SÃO?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45923">
            <a:off x="-3647874" y="-2468302"/>
            <a:ext cx="7569687" cy="5817343"/>
          </a:xfrm>
          <a:custGeom>
            <a:avLst/>
            <a:gdLst/>
            <a:ahLst/>
            <a:cxnLst/>
            <a:rect r="r" b="b" t="t" l="l"/>
            <a:pathLst>
              <a:path h="5817343" w="7569687">
                <a:moveTo>
                  <a:pt x="0" y="0"/>
                </a:moveTo>
                <a:lnTo>
                  <a:pt x="7569687" y="0"/>
                </a:lnTo>
                <a:lnTo>
                  <a:pt x="7569687" y="5817343"/>
                </a:lnTo>
                <a:lnTo>
                  <a:pt x="0" y="5817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45923">
            <a:off x="10684145" y="3381094"/>
            <a:ext cx="6312318" cy="4851049"/>
          </a:xfrm>
          <a:custGeom>
            <a:avLst/>
            <a:gdLst/>
            <a:ahLst/>
            <a:cxnLst/>
            <a:rect r="r" b="b" t="t" l="l"/>
            <a:pathLst>
              <a:path h="4851049" w="6312318">
                <a:moveTo>
                  <a:pt x="0" y="0"/>
                </a:moveTo>
                <a:lnTo>
                  <a:pt x="6312319" y="0"/>
                </a:lnTo>
                <a:lnTo>
                  <a:pt x="6312319" y="4851049"/>
                </a:lnTo>
                <a:lnTo>
                  <a:pt x="0" y="485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98605">
            <a:off x="12411051" y="5312908"/>
            <a:ext cx="4611019" cy="3648468"/>
          </a:xfrm>
          <a:custGeom>
            <a:avLst/>
            <a:gdLst/>
            <a:ahLst/>
            <a:cxnLst/>
            <a:rect r="r" b="b" t="t" l="l"/>
            <a:pathLst>
              <a:path h="3648468" w="4611019">
                <a:moveTo>
                  <a:pt x="0" y="0"/>
                </a:moveTo>
                <a:lnTo>
                  <a:pt x="4611018" y="0"/>
                </a:lnTo>
                <a:lnTo>
                  <a:pt x="4611018" y="3648469"/>
                </a:lnTo>
                <a:lnTo>
                  <a:pt x="0" y="3648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52839">
            <a:off x="11346092" y="2925996"/>
            <a:ext cx="2275565" cy="5466824"/>
          </a:xfrm>
          <a:custGeom>
            <a:avLst/>
            <a:gdLst/>
            <a:ahLst/>
            <a:cxnLst/>
            <a:rect r="r" b="b" t="t" l="l"/>
            <a:pathLst>
              <a:path h="5466824" w="2275565">
                <a:moveTo>
                  <a:pt x="0" y="0"/>
                </a:moveTo>
                <a:lnTo>
                  <a:pt x="2275566" y="0"/>
                </a:lnTo>
                <a:lnTo>
                  <a:pt x="2275566" y="5466824"/>
                </a:lnTo>
                <a:lnTo>
                  <a:pt x="0" y="546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8298" y="4292198"/>
            <a:ext cx="8908026" cy="487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Alguns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tipos podem ser produzidos a partir de matérias-primas renováveis, como a cana-de-açúcar e a celulose. No entanto,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maior par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dos plásticos consumidos atualmente tem origem no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petróleo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que é um recurso finito. Por essa razão, as embalagens plásticas trazem códigos numéricos que identificam o tipo de material e indicam suas possibilidades de reciclagem.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199" y="3261011"/>
            <a:ext cx="6970225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COMO SÃO OBTIDOS?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4911">
            <a:off x="754575" y="8425650"/>
            <a:ext cx="8310605" cy="6577051"/>
          </a:xfrm>
          <a:custGeom>
            <a:avLst/>
            <a:gdLst/>
            <a:ahLst/>
            <a:cxnLst/>
            <a:rect r="r" b="b" t="t" l="l"/>
            <a:pathLst>
              <a:path h="6577051" w="8310605">
                <a:moveTo>
                  <a:pt x="0" y="0"/>
                </a:moveTo>
                <a:lnTo>
                  <a:pt x="8310605" y="0"/>
                </a:lnTo>
                <a:lnTo>
                  <a:pt x="8310605" y="6577052"/>
                </a:lnTo>
                <a:lnTo>
                  <a:pt x="0" y="657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14543">
            <a:off x="15705679" y="1427094"/>
            <a:ext cx="4854570" cy="6058745"/>
          </a:xfrm>
          <a:custGeom>
            <a:avLst/>
            <a:gdLst/>
            <a:ahLst/>
            <a:cxnLst/>
            <a:rect r="r" b="b" t="t" l="l"/>
            <a:pathLst>
              <a:path h="6058745" w="4854570">
                <a:moveTo>
                  <a:pt x="0" y="0"/>
                </a:moveTo>
                <a:lnTo>
                  <a:pt x="4854569" y="0"/>
                </a:lnTo>
                <a:lnTo>
                  <a:pt x="4854569" y="6058745"/>
                </a:lnTo>
                <a:lnTo>
                  <a:pt x="0" y="6058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53110">
            <a:off x="8746204" y="-5137951"/>
            <a:ext cx="8310605" cy="6577051"/>
          </a:xfrm>
          <a:custGeom>
            <a:avLst/>
            <a:gdLst/>
            <a:ahLst/>
            <a:cxnLst/>
            <a:rect r="r" b="b" t="t" l="l"/>
            <a:pathLst>
              <a:path h="6577051" w="8310605">
                <a:moveTo>
                  <a:pt x="0" y="0"/>
                </a:moveTo>
                <a:lnTo>
                  <a:pt x="8310605" y="0"/>
                </a:lnTo>
                <a:lnTo>
                  <a:pt x="8310605" y="6577051"/>
                </a:lnTo>
                <a:lnTo>
                  <a:pt x="0" y="657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2114" y="4993237"/>
            <a:ext cx="2891258" cy="4974207"/>
          </a:xfrm>
          <a:custGeom>
            <a:avLst/>
            <a:gdLst/>
            <a:ahLst/>
            <a:cxnLst/>
            <a:rect r="r" b="b" t="t" l="l"/>
            <a:pathLst>
              <a:path h="4974207" w="2891258">
                <a:moveTo>
                  <a:pt x="0" y="0"/>
                </a:moveTo>
                <a:lnTo>
                  <a:pt x="2891258" y="0"/>
                </a:lnTo>
                <a:lnTo>
                  <a:pt x="2891258" y="4974207"/>
                </a:lnTo>
                <a:lnTo>
                  <a:pt x="0" y="4974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1111" y="1383377"/>
            <a:ext cx="3172334" cy="3241209"/>
          </a:xfrm>
          <a:custGeom>
            <a:avLst/>
            <a:gdLst/>
            <a:ahLst/>
            <a:cxnLst/>
            <a:rect r="r" b="b" t="t" l="l"/>
            <a:pathLst>
              <a:path h="3241209" w="3172334">
                <a:moveTo>
                  <a:pt x="0" y="0"/>
                </a:moveTo>
                <a:lnTo>
                  <a:pt x="3172334" y="0"/>
                </a:lnTo>
                <a:lnTo>
                  <a:pt x="3172334" y="3241210"/>
                </a:lnTo>
                <a:lnTo>
                  <a:pt x="0" y="3241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7032" y="4119012"/>
            <a:ext cx="11173937" cy="317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29"/>
              </a:lnSpc>
            </a:pPr>
            <a:r>
              <a:rPr lang="en-US" sz="12999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O petróleo e suas características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26889" y="2635058"/>
            <a:ext cx="9834222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 strike="noStrike" u="none">
                <a:solidFill>
                  <a:srgbClr val="C0C839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PARTE 2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597747" y="7084348"/>
            <a:ext cx="8717602" cy="4347904"/>
          </a:xfrm>
          <a:custGeom>
            <a:avLst/>
            <a:gdLst/>
            <a:ahLst/>
            <a:cxnLst/>
            <a:rect r="r" b="b" t="t" l="l"/>
            <a:pathLst>
              <a:path h="4347904" w="8717602">
                <a:moveTo>
                  <a:pt x="8717602" y="0"/>
                </a:moveTo>
                <a:lnTo>
                  <a:pt x="0" y="0"/>
                </a:lnTo>
                <a:lnTo>
                  <a:pt x="0" y="4347904"/>
                </a:lnTo>
                <a:lnTo>
                  <a:pt x="8717602" y="4347904"/>
                </a:lnTo>
                <a:lnTo>
                  <a:pt x="87176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4591" y="361115"/>
            <a:ext cx="5884164" cy="8229600"/>
          </a:xfrm>
          <a:custGeom>
            <a:avLst/>
            <a:gdLst/>
            <a:ahLst/>
            <a:cxnLst/>
            <a:rect r="r" b="b" t="t" l="l"/>
            <a:pathLst>
              <a:path h="8229600" w="5884164">
                <a:moveTo>
                  <a:pt x="0" y="0"/>
                </a:moveTo>
                <a:lnTo>
                  <a:pt x="5884164" y="0"/>
                </a:lnTo>
                <a:lnTo>
                  <a:pt x="58841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94074" y="2631844"/>
            <a:ext cx="8908026" cy="595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petró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leo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é uma substância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atural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origem fóssil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com aspecto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eos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o,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odo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marcante, altamente inflamável e menos densa que a água. </a:t>
            </a:r>
          </a:p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Trata-se de uma combinação complexa de compostos químicos chamados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hidrocarbonetos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formados basicamente por 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átomos de carbono e hidrogênio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Esses compostos incluem principalmente cadeias alifáticas, estruturas aromáticas e alicíclicas.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62975" y="1610338"/>
            <a:ext cx="6970225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O QUE É?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4731" y="3326980"/>
            <a:ext cx="10624569" cy="5971473"/>
          </a:xfrm>
          <a:custGeom>
            <a:avLst/>
            <a:gdLst/>
            <a:ahLst/>
            <a:cxnLst/>
            <a:rect r="r" b="b" t="t" l="l"/>
            <a:pathLst>
              <a:path h="5971473" w="10624569">
                <a:moveTo>
                  <a:pt x="0" y="0"/>
                </a:moveTo>
                <a:lnTo>
                  <a:pt x="10624569" y="0"/>
                </a:lnTo>
                <a:lnTo>
                  <a:pt x="10624569" y="5971473"/>
                </a:lnTo>
                <a:lnTo>
                  <a:pt x="0" y="5971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307" y="2203650"/>
            <a:ext cx="16671993" cy="100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26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destilação fracionada é uma técnica utilizada para sep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arar 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componen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de uma mistura homogênea por meio das diferentes temperaturas em que cada líquido entra em </a:t>
            </a:r>
            <a:r>
              <a:rPr lang="en-US" b="true" sz="30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ebulição</a:t>
            </a:r>
            <a:r>
              <a:rPr lang="en-US" sz="30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06612" y="773605"/>
            <a:ext cx="7674776" cy="1106195"/>
            <a:chOff x="0" y="0"/>
            <a:chExt cx="10233034" cy="1474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6313" cy="1474927"/>
            </a:xfrm>
            <a:custGeom>
              <a:avLst/>
              <a:gdLst/>
              <a:ahLst/>
              <a:cxnLst/>
              <a:rect r="r" b="b" t="t" l="l"/>
              <a:pathLst>
                <a:path h="1474927" w="1246313">
                  <a:moveTo>
                    <a:pt x="0" y="0"/>
                  </a:moveTo>
                  <a:lnTo>
                    <a:pt x="1246313" y="0"/>
                  </a:lnTo>
                  <a:lnTo>
                    <a:pt x="1246313" y="1474927"/>
                  </a:lnTo>
                  <a:lnTo>
                    <a:pt x="0" y="1474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939401" y="324269"/>
              <a:ext cx="9293633" cy="788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06"/>
                </a:lnSpc>
                <a:spcBef>
                  <a:spcPct val="0"/>
                </a:spcBef>
              </a:pPr>
              <a:r>
                <a:rPr lang="en-US" b="true" sz="3697">
                  <a:solidFill>
                    <a:srgbClr val="0B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DESTILAÇÃO FRACIONADA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7307" y="4518687"/>
            <a:ext cx="5286192" cy="433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6"/>
              </a:lnSpc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 diferentes frações do petróleo são separadas a partir deste processo.</a:t>
            </a:r>
          </a:p>
          <a:p>
            <a:pPr algn="ctr">
              <a:lnSpc>
                <a:spcPts val="4286"/>
              </a:lnSpc>
            </a:pPr>
          </a:p>
          <a:p>
            <a:pPr algn="ctr" marL="0" indent="0" lvl="0">
              <a:lnSpc>
                <a:spcPts val="4286"/>
              </a:lnSpc>
              <a:spcBef>
                <a:spcPct val="0"/>
              </a:spcBef>
            </a:pP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fração do petróleo utilizada para fazer os plásticos é chamada de </a:t>
            </a:r>
            <a:r>
              <a:rPr lang="en-US" b="true" sz="32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nafta</a:t>
            </a:r>
            <a:r>
              <a:rPr lang="en-US" sz="32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46431" y="9393703"/>
            <a:ext cx="8801170" cy="51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6"/>
              </a:lnSpc>
              <a:spcBef>
                <a:spcPct val="0"/>
              </a:spcBef>
            </a:pPr>
            <a:r>
              <a:rPr lang="en-US" sz="15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BATISTA,</a:t>
            </a:r>
            <a:r>
              <a:rPr lang="en-US" sz="15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Carolina. Refino do petróleo. </a:t>
            </a:r>
            <a:r>
              <a:rPr lang="en-US" b="true" sz="1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Toda Matéria. </a:t>
            </a:r>
            <a:r>
              <a:rPr lang="en-US" sz="15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</a:t>
            </a:r>
            <a:r>
              <a:rPr lang="en-US" sz="15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ponível em: https://www.todamateria.com.br/refino-petroleo/. Acesso em: 10 nov. 2025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14752" y="3511677"/>
            <a:ext cx="5172890" cy="513345"/>
            <a:chOff x="0" y="0"/>
            <a:chExt cx="1362407" cy="135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2407" cy="135202"/>
            </a:xfrm>
            <a:custGeom>
              <a:avLst/>
              <a:gdLst/>
              <a:ahLst/>
              <a:cxnLst/>
              <a:rect r="r" b="b" t="t" l="l"/>
              <a:pathLst>
                <a:path h="135202" w="1362407">
                  <a:moveTo>
                    <a:pt x="20953" y="0"/>
                  </a:moveTo>
                  <a:lnTo>
                    <a:pt x="1341454" y="0"/>
                  </a:lnTo>
                  <a:cubicBezTo>
                    <a:pt x="1353026" y="0"/>
                    <a:pt x="1362407" y="9381"/>
                    <a:pt x="1362407" y="20953"/>
                  </a:cubicBezTo>
                  <a:lnTo>
                    <a:pt x="1362407" y="114249"/>
                  </a:lnTo>
                  <a:cubicBezTo>
                    <a:pt x="1362407" y="125821"/>
                    <a:pt x="1353026" y="135202"/>
                    <a:pt x="1341454" y="135202"/>
                  </a:cubicBezTo>
                  <a:lnTo>
                    <a:pt x="20953" y="135202"/>
                  </a:lnTo>
                  <a:cubicBezTo>
                    <a:pt x="9381" y="135202"/>
                    <a:pt x="0" y="125821"/>
                    <a:pt x="0" y="114249"/>
                  </a:cubicBezTo>
                  <a:lnTo>
                    <a:pt x="0" y="20953"/>
                  </a:lnTo>
                  <a:cubicBezTo>
                    <a:pt x="0" y="9381"/>
                    <a:pt x="9381" y="0"/>
                    <a:pt x="20953" y="0"/>
                  </a:cubicBez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2407" cy="173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8004" y="1786848"/>
            <a:ext cx="16671993" cy="625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6"/>
              </a:lnSpc>
            </a:pPr>
            <a:r>
              <a:rPr lang="en-US" sz="359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 Craqueamento da nafta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nafta, derivada do petróleo, é submetida a altas temperaturas em um processo chamado </a:t>
            </a:r>
            <a:r>
              <a:rPr lang="en-US" b="true" sz="33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craqueamento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Nesse processo, suas moléculas grandes são “quebradas”, formando substâncias menores, como eteno, propeno e buteno, que são a base da indústria dos plásticos.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b="true" sz="3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2. Formação dos monômeros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Essas moléculas menores são chamad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 de </a:t>
            </a:r>
            <a:r>
              <a:rPr lang="en-US" b="true" sz="33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monômeros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Eles funcionam 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como “blocos de construção” que irão se unir para formar es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truturas maiore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8888" y="709279"/>
            <a:ext cx="6970225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PROCESSAMENTO DA NAFTA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26138" y="4279227"/>
            <a:ext cx="1950117" cy="43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6"/>
              </a:lnSpc>
              <a:spcBef>
                <a:spcPct val="0"/>
              </a:spcBef>
            </a:pPr>
            <a:r>
              <a:rPr lang="en-US" b="true" sz="26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ALCENOS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004" y="2101296"/>
            <a:ext cx="16671993" cy="680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b="true" sz="3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3. Polimerização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 monômeros passam por reações químicas que fazem com que se liguem repetidamente, formando longas cadeias chamadas </a:t>
            </a:r>
            <a:r>
              <a:rPr lang="en-US" b="true" sz="33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polímeros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Cada tipo de polímero dá origem a um tipo diferente de plástico (como PE, PP, PVC, PET etc.).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b="true" sz="3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4. Aditivação e moldagem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Antes de se tornarem produtos, os polímeros recebem aditivos (corantes, plastificantes, estabilizantes, entre outros) que melhoram suas propriedades.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Depois disso, o material é moldado em 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alagens, garrafas, saco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as, pe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ç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 e inúmer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outros objetos.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58888" y="709279"/>
            <a:ext cx="6970225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PROCESSAMENTO DA NAFTA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21767">
            <a:off x="12539789" y="-3337742"/>
            <a:ext cx="11924062" cy="6886146"/>
          </a:xfrm>
          <a:custGeom>
            <a:avLst/>
            <a:gdLst/>
            <a:ahLst/>
            <a:cxnLst/>
            <a:rect r="r" b="b" t="t" l="l"/>
            <a:pathLst>
              <a:path h="6886146" w="11924062">
                <a:moveTo>
                  <a:pt x="0" y="0"/>
                </a:moveTo>
                <a:lnTo>
                  <a:pt x="11924061" y="0"/>
                </a:lnTo>
                <a:lnTo>
                  <a:pt x="11924061" y="6886146"/>
                </a:lnTo>
                <a:lnTo>
                  <a:pt x="0" y="688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049450">
            <a:off x="667813" y="-2194575"/>
            <a:ext cx="2344933" cy="6446551"/>
          </a:xfrm>
          <a:custGeom>
            <a:avLst/>
            <a:gdLst/>
            <a:ahLst/>
            <a:cxnLst/>
            <a:rect r="r" b="b" t="t" l="l"/>
            <a:pathLst>
              <a:path h="6446551" w="2344933">
                <a:moveTo>
                  <a:pt x="0" y="0"/>
                </a:moveTo>
                <a:lnTo>
                  <a:pt x="2344933" y="0"/>
                </a:lnTo>
                <a:lnTo>
                  <a:pt x="2344933" y="6446550"/>
                </a:lnTo>
                <a:lnTo>
                  <a:pt x="0" y="6446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255805" y="5527982"/>
            <a:ext cx="11924062" cy="6886146"/>
          </a:xfrm>
          <a:custGeom>
            <a:avLst/>
            <a:gdLst/>
            <a:ahLst/>
            <a:cxnLst/>
            <a:rect r="r" b="b" t="t" l="l"/>
            <a:pathLst>
              <a:path h="6886146" w="11924062">
                <a:moveTo>
                  <a:pt x="0" y="0"/>
                </a:moveTo>
                <a:lnTo>
                  <a:pt x="11924061" y="0"/>
                </a:lnTo>
                <a:lnTo>
                  <a:pt x="11924061" y="6886145"/>
                </a:lnTo>
                <a:lnTo>
                  <a:pt x="0" y="688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93371" y="8634079"/>
            <a:ext cx="11301259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Braskem Descomplica | De onde vem o plástico?</a:t>
            </a:r>
          </a:p>
        </p:txBody>
      </p:sp>
      <p:pic>
        <p:nvPicPr>
          <p:cNvPr name="Picture 6" id="6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3653314" y="2035654"/>
            <a:ext cx="10981372" cy="6172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493371" y="9229725"/>
            <a:ext cx="11301259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  <a:spcBef>
                <a:spcPct val="0"/>
              </a:spcBef>
            </a:pPr>
            <a:r>
              <a:rPr lang="en-US" b="true" sz="2997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  <a:hlinkClick r:id="rId6" tooltip="https://www.youtube.com/watch?v=NTtyMoNftrg"/>
              </a:rPr>
              <a:t>https://www.youtube.com/watch?v=NTtyMoNftrg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3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4929" y="-3915335"/>
            <a:ext cx="10018143" cy="13651291"/>
          </a:xfrm>
          <a:custGeom>
            <a:avLst/>
            <a:gdLst/>
            <a:ahLst/>
            <a:cxnLst/>
            <a:rect r="r" b="b" t="t" l="l"/>
            <a:pathLst>
              <a:path h="13651291" w="10018143">
                <a:moveTo>
                  <a:pt x="0" y="0"/>
                </a:moveTo>
                <a:lnTo>
                  <a:pt x="10018142" y="0"/>
                </a:lnTo>
                <a:lnTo>
                  <a:pt x="10018142" y="13651291"/>
                </a:lnTo>
                <a:lnTo>
                  <a:pt x="0" y="13651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2" r="0" b="-225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70773">
            <a:off x="8578929" y="1059066"/>
            <a:ext cx="1116026" cy="3418266"/>
          </a:xfrm>
          <a:custGeom>
            <a:avLst/>
            <a:gdLst/>
            <a:ahLst/>
            <a:cxnLst/>
            <a:rect r="r" b="b" t="t" l="l"/>
            <a:pathLst>
              <a:path h="3418266" w="1116026">
                <a:moveTo>
                  <a:pt x="0" y="0"/>
                </a:moveTo>
                <a:lnTo>
                  <a:pt x="1116026" y="0"/>
                </a:lnTo>
                <a:lnTo>
                  <a:pt x="1116026" y="3418266"/>
                </a:lnTo>
                <a:lnTo>
                  <a:pt x="0" y="3418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3723" t="-37023" r="-203913" b="-626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55065"/>
            <a:ext cx="1739683" cy="2013134"/>
          </a:xfrm>
          <a:custGeom>
            <a:avLst/>
            <a:gdLst/>
            <a:ahLst/>
            <a:cxnLst/>
            <a:rect r="r" b="b" t="t" l="l"/>
            <a:pathLst>
              <a:path h="2013134" w="1739683">
                <a:moveTo>
                  <a:pt x="0" y="0"/>
                </a:moveTo>
                <a:lnTo>
                  <a:pt x="1739683" y="0"/>
                </a:lnTo>
                <a:lnTo>
                  <a:pt x="1739683" y="2013134"/>
                </a:lnTo>
                <a:lnTo>
                  <a:pt x="0" y="2013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947630">
            <a:off x="13764536" y="3410002"/>
            <a:ext cx="4473544" cy="3466997"/>
          </a:xfrm>
          <a:custGeom>
            <a:avLst/>
            <a:gdLst/>
            <a:ahLst/>
            <a:cxnLst/>
            <a:rect r="r" b="b" t="t" l="l"/>
            <a:pathLst>
              <a:path h="3466997" w="4473544">
                <a:moveTo>
                  <a:pt x="0" y="0"/>
                </a:moveTo>
                <a:lnTo>
                  <a:pt x="4473545" y="0"/>
                </a:lnTo>
                <a:lnTo>
                  <a:pt x="4473545" y="3466996"/>
                </a:lnTo>
                <a:lnTo>
                  <a:pt x="0" y="3466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22105" y="4426260"/>
            <a:ext cx="2716429" cy="5758830"/>
          </a:xfrm>
          <a:custGeom>
            <a:avLst/>
            <a:gdLst/>
            <a:ahLst/>
            <a:cxnLst/>
            <a:rect r="r" b="b" t="t" l="l"/>
            <a:pathLst>
              <a:path h="5758830" w="2716429">
                <a:moveTo>
                  <a:pt x="2716429" y="0"/>
                </a:moveTo>
                <a:lnTo>
                  <a:pt x="0" y="0"/>
                </a:lnTo>
                <a:lnTo>
                  <a:pt x="0" y="5758830"/>
                </a:lnTo>
                <a:lnTo>
                  <a:pt x="2716429" y="5758830"/>
                </a:lnTo>
                <a:lnTo>
                  <a:pt x="271642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89771" y="4540560"/>
            <a:ext cx="10018143" cy="152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</a:pPr>
            <a:r>
              <a:rPr lang="en-US" sz="10800">
                <a:solidFill>
                  <a:srgbClr val="085281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Hidrocarbonetos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7725" y="2257388"/>
            <a:ext cx="8972550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PARTE 3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693006"/>
            <a:ext cx="5437582" cy="4214126"/>
          </a:xfrm>
          <a:custGeom>
            <a:avLst/>
            <a:gdLst/>
            <a:ahLst/>
            <a:cxnLst/>
            <a:rect r="r" b="b" t="t" l="l"/>
            <a:pathLst>
              <a:path h="4214126" w="5437582">
                <a:moveTo>
                  <a:pt x="0" y="0"/>
                </a:moveTo>
                <a:lnTo>
                  <a:pt x="5437582" y="0"/>
                </a:lnTo>
                <a:lnTo>
                  <a:pt x="5437582" y="4214126"/>
                </a:lnTo>
                <a:lnTo>
                  <a:pt x="0" y="4214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307" y="2203650"/>
            <a:ext cx="16671993" cy="28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46"/>
              </a:lnSpc>
              <a:spcBef>
                <a:spcPct val="0"/>
              </a:spcBef>
            </a:pP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hidrocarbonetos são um grupo de substâncias orgânicas cujos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compos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são formados somente por átomos de carbono (C) e hidrogênio (H).</a:t>
            </a:r>
          </a:p>
          <a:p>
            <a:pPr algn="ctr" marL="0" indent="0" lvl="0">
              <a:lnSpc>
                <a:spcPts val="4546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546"/>
              </a:lnSpc>
              <a:spcBef>
                <a:spcPct val="0"/>
              </a:spcBef>
            </a:pP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 hidrocarbonetos podem ser formados por cadeias carbônicas alifáticas, alicíclicas, ramificadas, aromáticas 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tc.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59365" y="1007281"/>
            <a:ext cx="9769271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ESTRUTURA DOS HIDROCARBONETOS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0437" y="5693006"/>
            <a:ext cx="3321179" cy="3985415"/>
          </a:xfrm>
          <a:custGeom>
            <a:avLst/>
            <a:gdLst/>
            <a:ahLst/>
            <a:cxnLst/>
            <a:rect r="r" b="b" t="t" l="l"/>
            <a:pathLst>
              <a:path h="3985415" w="3321179">
                <a:moveTo>
                  <a:pt x="0" y="0"/>
                </a:moveTo>
                <a:lnTo>
                  <a:pt x="3321179" y="0"/>
                </a:lnTo>
                <a:lnTo>
                  <a:pt x="3321179" y="3985415"/>
                </a:lnTo>
                <a:lnTo>
                  <a:pt x="0" y="3985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307" y="2203650"/>
            <a:ext cx="16671993" cy="28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46"/>
              </a:lnSpc>
              <a:spcBef>
                <a:spcPct val="0"/>
              </a:spcBef>
            </a:pP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Compostos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orgânicos são substâncias químicas que têm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como base o elemento </a:t>
            </a:r>
            <a:r>
              <a:rPr lang="en-US" b="true" sz="34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carbono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geralmente ligado ao hidrogênio e, muitas vezes, a outros elementos como oxigênio, nitrogênio, enxofre e fósforo. Eles estão presentes em praticamente tudo que é vivo e também em muitos materiais do nosso cotidiano, como plásticos, combustíveis, alimentos, medicamentos 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3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tecidos.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59365" y="1007281"/>
            <a:ext cx="9769271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COMPOSTOS ORGÂNICOS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9081" y="6333448"/>
            <a:ext cx="11453218" cy="2647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537" indent="-326268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Família 14 da Tabela Periódica</a:t>
            </a:r>
          </a:p>
          <a:p>
            <a:pPr algn="l" marL="652537" indent="-326268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Distribuição eletrônica: 1s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2s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2p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  <a:p>
            <a:pPr algn="l" marL="652537" indent="-326268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Seus 4 elétrons de valência permitem formar até quatro ligações, criando estruturas complexas (cadeias abertas, fechadas, ramificadas). 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842" y="5131450"/>
            <a:ext cx="2248778" cy="1100452"/>
            <a:chOff x="0" y="0"/>
            <a:chExt cx="592271" cy="289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2271" cy="289831"/>
            </a:xfrm>
            <a:custGeom>
              <a:avLst/>
              <a:gdLst/>
              <a:ahLst/>
              <a:cxnLst/>
              <a:rect r="r" b="b" t="t" l="l"/>
              <a:pathLst>
                <a:path h="289831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269175"/>
                  </a:lnTo>
                  <a:cubicBezTo>
                    <a:pt x="592271" y="274653"/>
                    <a:pt x="590095" y="279907"/>
                    <a:pt x="586221" y="283781"/>
                  </a:cubicBezTo>
                  <a:cubicBezTo>
                    <a:pt x="582347" y="287655"/>
                    <a:pt x="577093" y="289831"/>
                    <a:pt x="571615" y="289831"/>
                  </a:cubicBezTo>
                  <a:lnTo>
                    <a:pt x="20656" y="289831"/>
                  </a:lnTo>
                  <a:cubicBezTo>
                    <a:pt x="15178" y="289831"/>
                    <a:pt x="9924" y="287655"/>
                    <a:pt x="6050" y="283781"/>
                  </a:cubicBezTo>
                  <a:cubicBezTo>
                    <a:pt x="2176" y="279907"/>
                    <a:pt x="0" y="274653"/>
                    <a:pt x="0" y="269175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2271" cy="32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9971" y="4735644"/>
            <a:ext cx="2248778" cy="1100452"/>
            <a:chOff x="0" y="0"/>
            <a:chExt cx="592271" cy="289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2271" cy="289831"/>
            </a:xfrm>
            <a:custGeom>
              <a:avLst/>
              <a:gdLst/>
              <a:ahLst/>
              <a:cxnLst/>
              <a:rect r="r" b="b" t="t" l="l"/>
              <a:pathLst>
                <a:path h="289831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269175"/>
                  </a:lnTo>
                  <a:cubicBezTo>
                    <a:pt x="592271" y="274653"/>
                    <a:pt x="590095" y="279907"/>
                    <a:pt x="586221" y="283781"/>
                  </a:cubicBezTo>
                  <a:cubicBezTo>
                    <a:pt x="582347" y="287655"/>
                    <a:pt x="577093" y="289831"/>
                    <a:pt x="571615" y="289831"/>
                  </a:cubicBezTo>
                  <a:lnTo>
                    <a:pt x="20656" y="289831"/>
                  </a:lnTo>
                  <a:cubicBezTo>
                    <a:pt x="15178" y="289831"/>
                    <a:pt x="9924" y="287655"/>
                    <a:pt x="6050" y="283781"/>
                  </a:cubicBezTo>
                  <a:cubicBezTo>
                    <a:pt x="2176" y="279907"/>
                    <a:pt x="0" y="274653"/>
                    <a:pt x="0" y="269175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A9B0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2271" cy="32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97371" y="6795472"/>
            <a:ext cx="2248778" cy="1100452"/>
            <a:chOff x="0" y="0"/>
            <a:chExt cx="592271" cy="2898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2271" cy="289831"/>
            </a:xfrm>
            <a:custGeom>
              <a:avLst/>
              <a:gdLst/>
              <a:ahLst/>
              <a:cxnLst/>
              <a:rect r="r" b="b" t="t" l="l"/>
              <a:pathLst>
                <a:path h="289831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269175"/>
                  </a:lnTo>
                  <a:cubicBezTo>
                    <a:pt x="592271" y="274653"/>
                    <a:pt x="590095" y="279907"/>
                    <a:pt x="586221" y="283781"/>
                  </a:cubicBezTo>
                  <a:cubicBezTo>
                    <a:pt x="582347" y="287655"/>
                    <a:pt x="577093" y="289831"/>
                    <a:pt x="571615" y="289831"/>
                  </a:cubicBezTo>
                  <a:lnTo>
                    <a:pt x="20656" y="289831"/>
                  </a:lnTo>
                  <a:cubicBezTo>
                    <a:pt x="15178" y="289831"/>
                    <a:pt x="9924" y="287655"/>
                    <a:pt x="6050" y="283781"/>
                  </a:cubicBezTo>
                  <a:cubicBezTo>
                    <a:pt x="2176" y="279907"/>
                    <a:pt x="0" y="274653"/>
                    <a:pt x="0" y="269175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92271" cy="32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08811" y="747699"/>
            <a:ext cx="2635189" cy="454518"/>
            <a:chOff x="0" y="0"/>
            <a:chExt cx="694042" cy="119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042" cy="119708"/>
            </a:xfrm>
            <a:custGeom>
              <a:avLst/>
              <a:gdLst/>
              <a:ahLst/>
              <a:cxnLst/>
              <a:rect r="r" b="b" t="t" l="l"/>
              <a:pathLst>
                <a:path h="119708" w="694042">
                  <a:moveTo>
                    <a:pt x="17627" y="0"/>
                  </a:moveTo>
                  <a:lnTo>
                    <a:pt x="676414" y="0"/>
                  </a:lnTo>
                  <a:cubicBezTo>
                    <a:pt x="681089" y="0"/>
                    <a:pt x="685573" y="1857"/>
                    <a:pt x="688879" y="5163"/>
                  </a:cubicBezTo>
                  <a:cubicBezTo>
                    <a:pt x="692184" y="8469"/>
                    <a:pt x="694042" y="12952"/>
                    <a:pt x="694042" y="17627"/>
                  </a:cubicBezTo>
                  <a:lnTo>
                    <a:pt x="694042" y="102081"/>
                  </a:lnTo>
                  <a:cubicBezTo>
                    <a:pt x="694042" y="111816"/>
                    <a:pt x="686149" y="119708"/>
                    <a:pt x="676414" y="119708"/>
                  </a:cubicBezTo>
                  <a:lnTo>
                    <a:pt x="17627" y="119708"/>
                  </a:lnTo>
                  <a:cubicBezTo>
                    <a:pt x="12952" y="119708"/>
                    <a:pt x="8469" y="117851"/>
                    <a:pt x="5163" y="114545"/>
                  </a:cubicBezTo>
                  <a:cubicBezTo>
                    <a:pt x="1857" y="111240"/>
                    <a:pt x="0" y="106756"/>
                    <a:pt x="0" y="102081"/>
                  </a:cubicBezTo>
                  <a:lnTo>
                    <a:pt x="0" y="17627"/>
                  </a:lnTo>
                  <a:cubicBezTo>
                    <a:pt x="0" y="12952"/>
                    <a:pt x="1857" y="8469"/>
                    <a:pt x="5163" y="5163"/>
                  </a:cubicBezTo>
                  <a:cubicBezTo>
                    <a:pt x="8469" y="1857"/>
                    <a:pt x="12952" y="0"/>
                    <a:pt x="17627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94042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08811" y="1339617"/>
            <a:ext cx="2635189" cy="454518"/>
            <a:chOff x="0" y="0"/>
            <a:chExt cx="694042" cy="1197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042" cy="119708"/>
            </a:xfrm>
            <a:custGeom>
              <a:avLst/>
              <a:gdLst/>
              <a:ahLst/>
              <a:cxnLst/>
              <a:rect r="r" b="b" t="t" l="l"/>
              <a:pathLst>
                <a:path h="119708" w="694042">
                  <a:moveTo>
                    <a:pt x="17627" y="0"/>
                  </a:moveTo>
                  <a:lnTo>
                    <a:pt x="676414" y="0"/>
                  </a:lnTo>
                  <a:cubicBezTo>
                    <a:pt x="681089" y="0"/>
                    <a:pt x="685573" y="1857"/>
                    <a:pt x="688879" y="5163"/>
                  </a:cubicBezTo>
                  <a:cubicBezTo>
                    <a:pt x="692184" y="8469"/>
                    <a:pt x="694042" y="12952"/>
                    <a:pt x="694042" y="17627"/>
                  </a:cubicBezTo>
                  <a:lnTo>
                    <a:pt x="694042" y="102081"/>
                  </a:lnTo>
                  <a:cubicBezTo>
                    <a:pt x="694042" y="111816"/>
                    <a:pt x="686149" y="119708"/>
                    <a:pt x="676414" y="119708"/>
                  </a:cubicBezTo>
                  <a:lnTo>
                    <a:pt x="17627" y="119708"/>
                  </a:lnTo>
                  <a:cubicBezTo>
                    <a:pt x="12952" y="119708"/>
                    <a:pt x="8469" y="117851"/>
                    <a:pt x="5163" y="114545"/>
                  </a:cubicBezTo>
                  <a:cubicBezTo>
                    <a:pt x="1857" y="111240"/>
                    <a:pt x="0" y="106756"/>
                    <a:pt x="0" y="102081"/>
                  </a:cubicBezTo>
                  <a:lnTo>
                    <a:pt x="0" y="17627"/>
                  </a:lnTo>
                  <a:cubicBezTo>
                    <a:pt x="0" y="12952"/>
                    <a:pt x="1857" y="8469"/>
                    <a:pt x="5163" y="5163"/>
                  </a:cubicBezTo>
                  <a:cubicBezTo>
                    <a:pt x="8469" y="1857"/>
                    <a:pt x="12952" y="0"/>
                    <a:pt x="17627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94042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08811" y="1931534"/>
            <a:ext cx="2635189" cy="454518"/>
            <a:chOff x="0" y="0"/>
            <a:chExt cx="694042" cy="1197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042" cy="119708"/>
            </a:xfrm>
            <a:custGeom>
              <a:avLst/>
              <a:gdLst/>
              <a:ahLst/>
              <a:cxnLst/>
              <a:rect r="r" b="b" t="t" l="l"/>
              <a:pathLst>
                <a:path h="119708" w="694042">
                  <a:moveTo>
                    <a:pt x="17627" y="0"/>
                  </a:moveTo>
                  <a:lnTo>
                    <a:pt x="676414" y="0"/>
                  </a:lnTo>
                  <a:cubicBezTo>
                    <a:pt x="681089" y="0"/>
                    <a:pt x="685573" y="1857"/>
                    <a:pt x="688879" y="5163"/>
                  </a:cubicBezTo>
                  <a:cubicBezTo>
                    <a:pt x="692184" y="8469"/>
                    <a:pt x="694042" y="12952"/>
                    <a:pt x="694042" y="17627"/>
                  </a:cubicBezTo>
                  <a:lnTo>
                    <a:pt x="694042" y="102081"/>
                  </a:lnTo>
                  <a:cubicBezTo>
                    <a:pt x="694042" y="111816"/>
                    <a:pt x="686149" y="119708"/>
                    <a:pt x="676414" y="119708"/>
                  </a:cubicBezTo>
                  <a:lnTo>
                    <a:pt x="17627" y="119708"/>
                  </a:lnTo>
                  <a:cubicBezTo>
                    <a:pt x="12952" y="119708"/>
                    <a:pt x="8469" y="117851"/>
                    <a:pt x="5163" y="114545"/>
                  </a:cubicBezTo>
                  <a:cubicBezTo>
                    <a:pt x="1857" y="111240"/>
                    <a:pt x="0" y="106756"/>
                    <a:pt x="0" y="102081"/>
                  </a:cubicBezTo>
                  <a:lnTo>
                    <a:pt x="0" y="17627"/>
                  </a:lnTo>
                  <a:cubicBezTo>
                    <a:pt x="0" y="12952"/>
                    <a:pt x="1857" y="8469"/>
                    <a:pt x="5163" y="5163"/>
                  </a:cubicBezTo>
                  <a:cubicBezTo>
                    <a:pt x="8469" y="1857"/>
                    <a:pt x="12952" y="0"/>
                    <a:pt x="17627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94042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41412" y="4762652"/>
            <a:ext cx="2248778" cy="454518"/>
            <a:chOff x="0" y="0"/>
            <a:chExt cx="592271" cy="119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A9B03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41412" y="5354569"/>
            <a:ext cx="2248778" cy="454518"/>
            <a:chOff x="0" y="0"/>
            <a:chExt cx="592271" cy="1197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A9B0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08811" y="6822480"/>
            <a:ext cx="2248778" cy="454518"/>
            <a:chOff x="0" y="0"/>
            <a:chExt cx="592271" cy="1197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08811" y="7414398"/>
            <a:ext cx="2248778" cy="454518"/>
            <a:chOff x="0" y="0"/>
            <a:chExt cx="592271" cy="1197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08811" y="8754741"/>
            <a:ext cx="2248778" cy="454518"/>
            <a:chOff x="0" y="0"/>
            <a:chExt cx="592271" cy="1197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8811" y="9346659"/>
            <a:ext cx="2248778" cy="454518"/>
            <a:chOff x="0" y="0"/>
            <a:chExt cx="592271" cy="1197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2271" cy="119708"/>
            </a:xfrm>
            <a:custGeom>
              <a:avLst/>
              <a:gdLst/>
              <a:ahLst/>
              <a:cxnLst/>
              <a:rect r="r" b="b" t="t" l="l"/>
              <a:pathLst>
                <a:path h="119708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99052"/>
                  </a:lnTo>
                  <a:cubicBezTo>
                    <a:pt x="592271" y="110460"/>
                    <a:pt x="583023" y="119708"/>
                    <a:pt x="571615" y="119708"/>
                  </a:cubicBezTo>
                  <a:lnTo>
                    <a:pt x="20656" y="119708"/>
                  </a:lnTo>
                  <a:cubicBezTo>
                    <a:pt x="15178" y="119708"/>
                    <a:pt x="9924" y="117532"/>
                    <a:pt x="6050" y="113658"/>
                  </a:cubicBezTo>
                  <a:cubicBezTo>
                    <a:pt x="2176" y="109785"/>
                    <a:pt x="0" y="104530"/>
                    <a:pt x="0" y="99052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2271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08811" y="3047891"/>
            <a:ext cx="4063704" cy="454518"/>
            <a:chOff x="0" y="0"/>
            <a:chExt cx="1070276" cy="1197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0276" cy="119708"/>
            </a:xfrm>
            <a:custGeom>
              <a:avLst/>
              <a:gdLst/>
              <a:ahLst/>
              <a:cxnLst/>
              <a:rect r="r" b="b" t="t" l="l"/>
              <a:pathLst>
                <a:path h="119708" w="1070276">
                  <a:moveTo>
                    <a:pt x="11431" y="0"/>
                  </a:moveTo>
                  <a:lnTo>
                    <a:pt x="1058845" y="0"/>
                  </a:lnTo>
                  <a:cubicBezTo>
                    <a:pt x="1061877" y="0"/>
                    <a:pt x="1064784" y="1204"/>
                    <a:pt x="1066928" y="3348"/>
                  </a:cubicBezTo>
                  <a:cubicBezTo>
                    <a:pt x="1069072" y="5492"/>
                    <a:pt x="1070276" y="8399"/>
                    <a:pt x="1070276" y="11431"/>
                  </a:cubicBezTo>
                  <a:lnTo>
                    <a:pt x="1070276" y="108278"/>
                  </a:lnTo>
                  <a:cubicBezTo>
                    <a:pt x="1070276" y="114591"/>
                    <a:pt x="1065158" y="119708"/>
                    <a:pt x="1058845" y="119708"/>
                  </a:cubicBezTo>
                  <a:lnTo>
                    <a:pt x="11431" y="119708"/>
                  </a:lnTo>
                  <a:cubicBezTo>
                    <a:pt x="8399" y="119708"/>
                    <a:pt x="5492" y="118504"/>
                    <a:pt x="3348" y="116360"/>
                  </a:cubicBezTo>
                  <a:cubicBezTo>
                    <a:pt x="1204" y="114217"/>
                    <a:pt x="0" y="111309"/>
                    <a:pt x="0" y="108278"/>
                  </a:cubicBezTo>
                  <a:lnTo>
                    <a:pt x="0" y="11431"/>
                  </a:lnTo>
                  <a:cubicBezTo>
                    <a:pt x="0" y="8399"/>
                    <a:pt x="1204" y="5492"/>
                    <a:pt x="3348" y="3348"/>
                  </a:cubicBezTo>
                  <a:cubicBezTo>
                    <a:pt x="5492" y="1204"/>
                    <a:pt x="8399" y="0"/>
                    <a:pt x="11431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70276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08811" y="3639808"/>
            <a:ext cx="4063704" cy="454518"/>
            <a:chOff x="0" y="0"/>
            <a:chExt cx="1070276" cy="1197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0276" cy="119708"/>
            </a:xfrm>
            <a:custGeom>
              <a:avLst/>
              <a:gdLst/>
              <a:ahLst/>
              <a:cxnLst/>
              <a:rect r="r" b="b" t="t" l="l"/>
              <a:pathLst>
                <a:path h="119708" w="1070276">
                  <a:moveTo>
                    <a:pt x="11431" y="0"/>
                  </a:moveTo>
                  <a:lnTo>
                    <a:pt x="1058845" y="0"/>
                  </a:lnTo>
                  <a:cubicBezTo>
                    <a:pt x="1061877" y="0"/>
                    <a:pt x="1064784" y="1204"/>
                    <a:pt x="1066928" y="3348"/>
                  </a:cubicBezTo>
                  <a:cubicBezTo>
                    <a:pt x="1069072" y="5492"/>
                    <a:pt x="1070276" y="8399"/>
                    <a:pt x="1070276" y="11431"/>
                  </a:cubicBezTo>
                  <a:lnTo>
                    <a:pt x="1070276" y="108278"/>
                  </a:lnTo>
                  <a:cubicBezTo>
                    <a:pt x="1070276" y="114591"/>
                    <a:pt x="1065158" y="119708"/>
                    <a:pt x="1058845" y="119708"/>
                  </a:cubicBezTo>
                  <a:lnTo>
                    <a:pt x="11431" y="119708"/>
                  </a:lnTo>
                  <a:cubicBezTo>
                    <a:pt x="8399" y="119708"/>
                    <a:pt x="5492" y="118504"/>
                    <a:pt x="3348" y="116360"/>
                  </a:cubicBezTo>
                  <a:cubicBezTo>
                    <a:pt x="1204" y="114217"/>
                    <a:pt x="0" y="111309"/>
                    <a:pt x="0" y="108278"/>
                  </a:cubicBezTo>
                  <a:lnTo>
                    <a:pt x="0" y="11431"/>
                  </a:lnTo>
                  <a:cubicBezTo>
                    <a:pt x="0" y="8399"/>
                    <a:pt x="1204" y="5492"/>
                    <a:pt x="3348" y="3348"/>
                  </a:cubicBezTo>
                  <a:cubicBezTo>
                    <a:pt x="5492" y="1204"/>
                    <a:pt x="8399" y="0"/>
                    <a:pt x="11431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70276" cy="15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173431" y="1039212"/>
            <a:ext cx="800979" cy="754923"/>
          </a:xfrm>
          <a:custGeom>
            <a:avLst/>
            <a:gdLst/>
            <a:ahLst/>
            <a:cxnLst/>
            <a:rect r="r" b="b" t="t" l="l"/>
            <a:pathLst>
              <a:path h="754923" w="800979">
                <a:moveTo>
                  <a:pt x="0" y="0"/>
                </a:moveTo>
                <a:lnTo>
                  <a:pt x="800979" y="0"/>
                </a:lnTo>
                <a:lnTo>
                  <a:pt x="800979" y="754923"/>
                </a:lnTo>
                <a:lnTo>
                  <a:pt x="0" y="754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808047" y="2594862"/>
            <a:ext cx="960000" cy="1108225"/>
          </a:xfrm>
          <a:custGeom>
            <a:avLst/>
            <a:gdLst/>
            <a:ahLst/>
            <a:cxnLst/>
            <a:rect r="r" b="b" t="t" l="l"/>
            <a:pathLst>
              <a:path h="1108225" w="960000">
                <a:moveTo>
                  <a:pt x="0" y="0"/>
                </a:moveTo>
                <a:lnTo>
                  <a:pt x="960000" y="0"/>
                </a:lnTo>
                <a:lnTo>
                  <a:pt x="960000" y="1108225"/>
                </a:lnTo>
                <a:lnTo>
                  <a:pt x="0" y="1108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091897" y="2594862"/>
            <a:ext cx="960000" cy="1108225"/>
          </a:xfrm>
          <a:custGeom>
            <a:avLst/>
            <a:gdLst/>
            <a:ahLst/>
            <a:cxnLst/>
            <a:rect r="r" b="b" t="t" l="l"/>
            <a:pathLst>
              <a:path h="1108225" w="960000">
                <a:moveTo>
                  <a:pt x="0" y="0"/>
                </a:moveTo>
                <a:lnTo>
                  <a:pt x="960001" y="0"/>
                </a:lnTo>
                <a:lnTo>
                  <a:pt x="960001" y="1108225"/>
                </a:lnTo>
                <a:lnTo>
                  <a:pt x="0" y="1108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5252986" y="2830063"/>
            <a:ext cx="637823" cy="637823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375360" y="5251971"/>
            <a:ext cx="2099742" cy="8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Classificação das cadeias carbônicas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671889" y="1284808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Fechamento da cadeia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671889" y="8991299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Natureza dos átomos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541412" y="840528"/>
            <a:ext cx="2602588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Aberta (acíclica)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508811" y="6915309"/>
            <a:ext cx="2174260" cy="30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27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Saturada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631687" y="3140720"/>
            <a:ext cx="3940828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Aromática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31687" y="3731009"/>
            <a:ext cx="3940828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Não aromática (alicíclica)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60121" y="1936027"/>
            <a:ext cx="2027600" cy="16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termo “</a:t>
            </a:r>
            <a:r>
              <a:rPr lang="en-US" b="true" sz="1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alifática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” abrangente todas as cadeias carbônicas não-aromáticas, incluindo abertas, mistas e alicíclicas.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33392" y="2071641"/>
            <a:ext cx="7834961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Ocor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um fechamento na cadeia, formando-se um ciclo</a:t>
            </a:r>
          </a:p>
        </p:txBody>
      </p:sp>
      <p:sp>
        <p:nvSpPr>
          <p:cNvPr name="AutoShape 59" id="59"/>
          <p:cNvSpPr/>
          <p:nvPr/>
        </p:nvSpPr>
        <p:spPr>
          <a:xfrm>
            <a:off x="14683370" y="2915085"/>
            <a:ext cx="0" cy="46777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3875993" y="3387086"/>
            <a:ext cx="409718" cy="230646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flipH="true">
            <a:off x="13878750" y="2712282"/>
            <a:ext cx="406911" cy="23556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17036961" y="3585830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516961" y="3307627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516961" y="2775141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036961" y="2522790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572776" y="2775141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572776" y="3331030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80498" y="2596763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280498" y="3532683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7036961" y="3921319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036961" y="2197816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796450" y="2596763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809239" y="3510607"/>
            <a:ext cx="292278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</a:p>
        </p:txBody>
      </p:sp>
      <p:sp>
        <p:nvSpPr>
          <p:cNvPr name="AutoShape 74" id="74"/>
          <p:cNvSpPr/>
          <p:nvPr/>
        </p:nvSpPr>
        <p:spPr>
          <a:xfrm>
            <a:off x="17183100" y="3839158"/>
            <a:ext cx="0" cy="12622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16514964" y="3506741"/>
            <a:ext cx="106098" cy="6837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 flipV="true">
            <a:off x="17742959" y="3490334"/>
            <a:ext cx="103941" cy="7161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17183100" y="2386791"/>
            <a:ext cx="0" cy="12622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H="true">
            <a:off x="17752648" y="2783191"/>
            <a:ext cx="103657" cy="7202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H="true" flipV="true">
            <a:off x="16515335" y="2782917"/>
            <a:ext cx="108350" cy="6474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flipH="true" flipV="true">
            <a:off x="16797472" y="3506534"/>
            <a:ext cx="283347" cy="163476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 flipV="true">
            <a:off x="16841401" y="3459189"/>
            <a:ext cx="283347" cy="163476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17286041" y="3487523"/>
            <a:ext cx="284483" cy="16149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16707862" y="3008441"/>
            <a:ext cx="0" cy="3271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17287562" y="2654605"/>
            <a:ext cx="279607" cy="16979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16810198" y="2696552"/>
            <a:ext cx="281677" cy="16633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>
            <a:off x="16790575" y="2635020"/>
            <a:ext cx="281677" cy="16633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7694690" y="2991648"/>
            <a:ext cx="0" cy="3271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7631510" y="2978246"/>
            <a:ext cx="0" cy="3271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16707862" y="2991648"/>
            <a:ext cx="0" cy="3271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H="true">
            <a:off x="2475103" y="1566876"/>
            <a:ext cx="1122268" cy="411480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>
            <a:off x="2475103" y="5285870"/>
            <a:ext cx="1154869" cy="39419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H="true">
            <a:off x="5846149" y="974958"/>
            <a:ext cx="695262" cy="59191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H="true">
            <a:off x="5771631" y="1514063"/>
            <a:ext cx="737180" cy="5281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flipH="true" flipV="true">
            <a:off x="5750014" y="1487253"/>
            <a:ext cx="791398" cy="62984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95" id="95"/>
          <p:cNvGrpSpPr/>
          <p:nvPr/>
        </p:nvGrpSpPr>
        <p:grpSpPr>
          <a:xfrm rot="0">
            <a:off x="3597371" y="1016650"/>
            <a:ext cx="2248778" cy="1100452"/>
            <a:chOff x="0" y="0"/>
            <a:chExt cx="592271" cy="2898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2271" cy="289831"/>
            </a:xfrm>
            <a:custGeom>
              <a:avLst/>
              <a:gdLst/>
              <a:ahLst/>
              <a:cxnLst/>
              <a:rect r="r" b="b" t="t" l="l"/>
              <a:pathLst>
                <a:path h="289831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269175"/>
                  </a:lnTo>
                  <a:cubicBezTo>
                    <a:pt x="592271" y="274653"/>
                    <a:pt x="590095" y="279907"/>
                    <a:pt x="586221" y="283781"/>
                  </a:cubicBezTo>
                  <a:cubicBezTo>
                    <a:pt x="582347" y="287655"/>
                    <a:pt x="577093" y="289831"/>
                    <a:pt x="571615" y="289831"/>
                  </a:cubicBezTo>
                  <a:lnTo>
                    <a:pt x="20656" y="289831"/>
                  </a:lnTo>
                  <a:cubicBezTo>
                    <a:pt x="15178" y="289831"/>
                    <a:pt x="9924" y="287655"/>
                    <a:pt x="6050" y="283781"/>
                  </a:cubicBezTo>
                  <a:cubicBezTo>
                    <a:pt x="2176" y="279907"/>
                    <a:pt x="0" y="274653"/>
                    <a:pt x="0" y="269175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E27052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92271" cy="32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8" id="98"/>
          <p:cNvSpPr/>
          <p:nvPr/>
        </p:nvSpPr>
        <p:spPr>
          <a:xfrm flipV="true">
            <a:off x="6427650" y="2468253"/>
            <a:ext cx="1470826" cy="8203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flipV="true">
            <a:off x="6406033" y="2503740"/>
            <a:ext cx="1436673" cy="133541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flipH="true">
            <a:off x="5878750" y="4989911"/>
            <a:ext cx="662662" cy="29595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flipH="true" flipV="true">
            <a:off x="5878750" y="5285870"/>
            <a:ext cx="662662" cy="29595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flipH="true">
            <a:off x="5846149" y="7055524"/>
            <a:ext cx="662662" cy="29017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flipH="true" flipV="true">
            <a:off x="5934474" y="7374584"/>
            <a:ext cx="472556" cy="33492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flipH="true">
            <a:off x="5846149" y="8962724"/>
            <a:ext cx="695262" cy="22709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flipH="true" flipV="true">
            <a:off x="5747191" y="9274825"/>
            <a:ext cx="751389" cy="38168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06" id="106"/>
          <p:cNvGrpSpPr/>
          <p:nvPr/>
        </p:nvGrpSpPr>
        <p:grpSpPr>
          <a:xfrm rot="0">
            <a:off x="3597371" y="8724599"/>
            <a:ext cx="2248778" cy="1100452"/>
            <a:chOff x="0" y="0"/>
            <a:chExt cx="592271" cy="28983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92271" cy="289831"/>
            </a:xfrm>
            <a:custGeom>
              <a:avLst/>
              <a:gdLst/>
              <a:ahLst/>
              <a:cxnLst/>
              <a:rect r="r" b="b" t="t" l="l"/>
              <a:pathLst>
                <a:path h="289831" w="592271">
                  <a:moveTo>
                    <a:pt x="20656" y="0"/>
                  </a:moveTo>
                  <a:lnTo>
                    <a:pt x="571615" y="0"/>
                  </a:lnTo>
                  <a:cubicBezTo>
                    <a:pt x="577093" y="0"/>
                    <a:pt x="582347" y="2176"/>
                    <a:pt x="586221" y="6050"/>
                  </a:cubicBezTo>
                  <a:cubicBezTo>
                    <a:pt x="590095" y="9924"/>
                    <a:pt x="592271" y="15178"/>
                    <a:pt x="592271" y="20656"/>
                  </a:cubicBezTo>
                  <a:lnTo>
                    <a:pt x="592271" y="269175"/>
                  </a:lnTo>
                  <a:cubicBezTo>
                    <a:pt x="592271" y="274653"/>
                    <a:pt x="590095" y="279907"/>
                    <a:pt x="586221" y="283781"/>
                  </a:cubicBezTo>
                  <a:cubicBezTo>
                    <a:pt x="582347" y="287655"/>
                    <a:pt x="577093" y="289831"/>
                    <a:pt x="571615" y="289831"/>
                  </a:cubicBezTo>
                  <a:lnTo>
                    <a:pt x="20656" y="289831"/>
                  </a:lnTo>
                  <a:cubicBezTo>
                    <a:pt x="15178" y="289831"/>
                    <a:pt x="9924" y="287655"/>
                    <a:pt x="6050" y="283781"/>
                  </a:cubicBezTo>
                  <a:cubicBezTo>
                    <a:pt x="2176" y="279907"/>
                    <a:pt x="0" y="274653"/>
                    <a:pt x="0" y="269175"/>
                  </a:cubicBezTo>
                  <a:lnTo>
                    <a:pt x="0" y="20656"/>
                  </a:lnTo>
                  <a:cubicBezTo>
                    <a:pt x="0" y="15178"/>
                    <a:pt x="2176" y="9924"/>
                    <a:pt x="6050" y="6050"/>
                  </a:cubicBezTo>
                  <a:cubicBezTo>
                    <a:pt x="9924" y="2176"/>
                    <a:pt x="15178" y="0"/>
                    <a:pt x="2065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592271" cy="327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9" id="109"/>
          <p:cNvSpPr/>
          <p:nvPr/>
        </p:nvSpPr>
        <p:spPr>
          <a:xfrm flipH="true" flipV="true">
            <a:off x="2549621" y="5681676"/>
            <a:ext cx="981392" cy="16640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 flipH="true" flipV="true">
            <a:off x="2549621" y="5602053"/>
            <a:ext cx="895350" cy="377156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11" id="111"/>
          <p:cNvGrpSpPr/>
          <p:nvPr/>
        </p:nvGrpSpPr>
        <p:grpSpPr>
          <a:xfrm rot="0">
            <a:off x="8790190" y="4884901"/>
            <a:ext cx="306114" cy="306114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3704489" y="5003802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Disposição dos átomos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671889" y="7063631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Tipos de ligação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6776534" y="1434074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Mista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6776534" y="1982672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Fechada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615930" y="4855481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615930" y="5447398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Ramificada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6583329" y="7507227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Insaturada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6583329" y="8847570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Homogênea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6583329" y="9439488"/>
            <a:ext cx="2099742" cy="29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Heterogênea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256915" y="4781702"/>
            <a:ext cx="7834961" cy="46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deamento dos átomos segue uma sequência única (apenas C primários e secundários)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256915" y="5462677"/>
            <a:ext cx="7651114" cy="46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Quando,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na 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deia, surgem “ramos” ou “ramificações” (apresenta C terciários e quaternários)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9224314" y="6927931"/>
            <a:ext cx="7834961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Apenas ligações simples </a:t>
            </a:r>
            <a:r>
              <a:rPr lang="en-US" b="true" sz="1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 carbonos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9144000" y="7534532"/>
            <a:ext cx="7651114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Apresenta pelo menos uma 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ligação dupla ou tripla </a:t>
            </a:r>
            <a:r>
              <a:rPr lang="en-US" b="true" sz="1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 carbonos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144000" y="8874875"/>
            <a:ext cx="7834961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Constituída somente por ligações 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entre 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átomos de 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carbono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9144000" y="9476884"/>
            <a:ext cx="7651114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Contém ao menos um heteroátom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(O, N, S, P etc.) </a:t>
            </a:r>
            <a:r>
              <a:rPr lang="en-US" b="true" sz="1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 carbonos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633392" y="904663"/>
            <a:ext cx="7834961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deamento dos átomos não sofre nenhum fechamento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633392" y="1459751"/>
            <a:ext cx="7834961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esenta, simultaneamente, uma parte aberta e outra fechada (cíclica)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943611" y="3168025"/>
            <a:ext cx="2751572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esenta anel benzênico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0943611" y="3795143"/>
            <a:ext cx="3430196" cy="23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3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Não a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esenta anel benzênico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3704489" y="1286437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Fechamento da cadeia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3671889" y="9010575"/>
            <a:ext cx="2099742" cy="5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Natureza dos átomos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8790190" y="5443627"/>
            <a:ext cx="306114" cy="306114"/>
            <a:chOff x="0" y="0"/>
            <a:chExt cx="812800" cy="812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8757589" y="6896682"/>
            <a:ext cx="306114" cy="306114"/>
            <a:chOff x="0" y="0"/>
            <a:chExt cx="812800" cy="812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8757589" y="7503284"/>
            <a:ext cx="306114" cy="306114"/>
            <a:chOff x="0" y="0"/>
            <a:chExt cx="812800" cy="812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8757589" y="8855825"/>
            <a:ext cx="306114" cy="306114"/>
            <a:chOff x="0" y="0"/>
            <a:chExt cx="812800" cy="8128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8757589" y="9450228"/>
            <a:ext cx="306114" cy="306114"/>
            <a:chOff x="0" y="0"/>
            <a:chExt cx="812800" cy="8128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144000" y="811953"/>
            <a:ext cx="306114" cy="306114"/>
            <a:chOff x="0" y="0"/>
            <a:chExt cx="812800" cy="8128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9144000" y="1442220"/>
            <a:ext cx="306114" cy="306114"/>
            <a:chOff x="0" y="0"/>
            <a:chExt cx="812800" cy="812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142977" y="2013210"/>
            <a:ext cx="306114" cy="306114"/>
            <a:chOff x="0" y="0"/>
            <a:chExt cx="812800" cy="812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572515" y="3165715"/>
            <a:ext cx="306114" cy="306114"/>
            <a:chOff x="0" y="0"/>
            <a:chExt cx="812800" cy="812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572515" y="3749211"/>
            <a:ext cx="306114" cy="306114"/>
            <a:chOff x="0" y="0"/>
            <a:chExt cx="812800" cy="8128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3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769" y="3265856"/>
            <a:ext cx="8381040" cy="5992444"/>
          </a:xfrm>
          <a:custGeom>
            <a:avLst/>
            <a:gdLst/>
            <a:ahLst/>
            <a:cxnLst/>
            <a:rect r="r" b="b" t="t" l="l"/>
            <a:pathLst>
              <a:path h="5992444" w="8381040">
                <a:moveTo>
                  <a:pt x="0" y="0"/>
                </a:moveTo>
                <a:lnTo>
                  <a:pt x="8381040" y="0"/>
                </a:lnTo>
                <a:lnTo>
                  <a:pt x="8381040" y="5992444"/>
                </a:lnTo>
                <a:lnTo>
                  <a:pt x="0" y="5992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9365" y="1007281"/>
            <a:ext cx="9769271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NOMENCLATURA DOS HIDROCARBONETOS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11232" y="5454098"/>
            <a:ext cx="6407904" cy="122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6"/>
              </a:lnSpc>
              <a:spcBef>
                <a:spcPct val="0"/>
              </a:spcBef>
            </a:pPr>
            <a:r>
              <a:rPr lang="en-US" sz="2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a cadeira for fechada, acrescenta-se a palavra “ciclo” a frente do nome da molécula.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6076" y="1738546"/>
            <a:ext cx="15555847" cy="96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6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nomenclatura dos hidrocarbonetos, assim como a dos demais compostos orgânicos, é estabelecida pela IUPAC e é formada pelas seguintes partes: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9076" y="3513588"/>
            <a:ext cx="8317791" cy="144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Prefixo: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 a quantidade de carbonos;</a:t>
            </a:r>
          </a:p>
          <a:p>
            <a:pPr algn="l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Infixo: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 as ligações entre carbonos;</a:t>
            </a:r>
          </a:p>
          <a:p>
            <a:pPr algn="l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Sufixo: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indica o grupo funcional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11232" y="7172358"/>
            <a:ext cx="6407904" cy="195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ramificação também recebe um nome:</a:t>
            </a:r>
          </a:p>
          <a:p>
            <a:pPr algn="ctr">
              <a:lnSpc>
                <a:spcPts val="3116"/>
              </a:lnSpc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metil</a:t>
            </a:r>
          </a:p>
          <a:p>
            <a:pPr algn="ctr">
              <a:lnSpc>
                <a:spcPts val="3116"/>
              </a:lnSpc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etil</a:t>
            </a:r>
          </a:p>
          <a:p>
            <a:pPr algn="ctr">
              <a:lnSpc>
                <a:spcPts val="3116"/>
              </a:lnSpc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-CH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propil</a:t>
            </a:r>
          </a:p>
          <a:p>
            <a:pPr algn="ctr" marL="0" indent="0" lvl="0">
              <a:lnSpc>
                <a:spcPts val="3116"/>
              </a:lnSpc>
              <a:spcBef>
                <a:spcPct val="0"/>
              </a:spcBef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Assim por diante....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5010" y="2574258"/>
            <a:ext cx="4352444" cy="1434872"/>
          </a:xfrm>
          <a:custGeom>
            <a:avLst/>
            <a:gdLst/>
            <a:ahLst/>
            <a:cxnLst/>
            <a:rect r="r" b="b" t="t" l="l"/>
            <a:pathLst>
              <a:path h="1434872" w="4352444">
                <a:moveTo>
                  <a:pt x="0" y="0"/>
                </a:moveTo>
                <a:lnTo>
                  <a:pt x="4352445" y="0"/>
                </a:lnTo>
                <a:lnTo>
                  <a:pt x="4352445" y="1434872"/>
                </a:lnTo>
                <a:lnTo>
                  <a:pt x="0" y="143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5010" y="4975366"/>
            <a:ext cx="4352444" cy="1468782"/>
          </a:xfrm>
          <a:custGeom>
            <a:avLst/>
            <a:gdLst/>
            <a:ahLst/>
            <a:cxnLst/>
            <a:rect r="r" b="b" t="t" l="l"/>
            <a:pathLst>
              <a:path h="1468782" w="4352444">
                <a:moveTo>
                  <a:pt x="0" y="0"/>
                </a:moveTo>
                <a:lnTo>
                  <a:pt x="4352445" y="0"/>
                </a:lnTo>
                <a:lnTo>
                  <a:pt x="4352445" y="1468781"/>
                </a:lnTo>
                <a:lnTo>
                  <a:pt x="0" y="1468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95010" y="7572873"/>
            <a:ext cx="4352444" cy="1285371"/>
          </a:xfrm>
          <a:custGeom>
            <a:avLst/>
            <a:gdLst/>
            <a:ahLst/>
            <a:cxnLst/>
            <a:rect r="r" b="b" t="t" l="l"/>
            <a:pathLst>
              <a:path h="1285371" w="4352444">
                <a:moveTo>
                  <a:pt x="0" y="0"/>
                </a:moveTo>
                <a:lnTo>
                  <a:pt x="4352445" y="0"/>
                </a:lnTo>
                <a:lnTo>
                  <a:pt x="4352445" y="1285371"/>
                </a:lnTo>
                <a:lnTo>
                  <a:pt x="0" y="1285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59365" y="1007281"/>
            <a:ext cx="9769271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3697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CLASSIFICAÇÃO DOS HIDROCARBONETOS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8959" y="2684228"/>
            <a:ext cx="9602108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Alcanos: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Formados somente por ligações simples.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8959" y="5033918"/>
            <a:ext cx="9602108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Alcenos: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Contêm ao menos uma ligação dupla.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8959" y="7468098"/>
            <a:ext cx="9602108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171" indent="-323585" lvl="1">
              <a:lnSpc>
                <a:spcPts val="3896"/>
              </a:lnSpc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Alcinos: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Contêm ao menos uma ligação tripla.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4915" y="3332329"/>
            <a:ext cx="4801054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6"/>
              </a:lnSpc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Fórmula: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2n+2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4915" y="5681649"/>
            <a:ext cx="4801054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6"/>
              </a:lnSpc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Fórmula: C</a:t>
            </a: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4915" y="8192030"/>
            <a:ext cx="4801054" cy="47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6"/>
              </a:lnSpc>
            </a:pPr>
            <a:r>
              <a:rPr lang="en-US" b="true" sz="29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Fórmula: 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29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2n-2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5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55805" y="5527982"/>
            <a:ext cx="11924062" cy="6886146"/>
          </a:xfrm>
          <a:custGeom>
            <a:avLst/>
            <a:gdLst/>
            <a:ahLst/>
            <a:cxnLst/>
            <a:rect r="r" b="b" t="t" l="l"/>
            <a:pathLst>
              <a:path h="6886146" w="11924062">
                <a:moveTo>
                  <a:pt x="0" y="0"/>
                </a:moveTo>
                <a:lnTo>
                  <a:pt x="11924061" y="0"/>
                </a:lnTo>
                <a:lnTo>
                  <a:pt x="11924061" y="6886145"/>
                </a:lnTo>
                <a:lnTo>
                  <a:pt x="0" y="688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11082">
            <a:off x="9965867" y="-4600922"/>
            <a:ext cx="11924062" cy="6886146"/>
          </a:xfrm>
          <a:custGeom>
            <a:avLst/>
            <a:gdLst/>
            <a:ahLst/>
            <a:cxnLst/>
            <a:rect r="r" b="b" t="t" l="l"/>
            <a:pathLst>
              <a:path h="6886146" w="11924062">
                <a:moveTo>
                  <a:pt x="0" y="0"/>
                </a:moveTo>
                <a:lnTo>
                  <a:pt x="11924062" y="0"/>
                </a:lnTo>
                <a:lnTo>
                  <a:pt x="11924062" y="6886145"/>
                </a:lnTo>
                <a:lnTo>
                  <a:pt x="0" y="688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782">
            <a:off x="10797305" y="-1976437"/>
            <a:ext cx="6276261" cy="11157797"/>
          </a:xfrm>
          <a:custGeom>
            <a:avLst/>
            <a:gdLst/>
            <a:ahLst/>
            <a:cxnLst/>
            <a:rect r="r" b="b" t="t" l="l"/>
            <a:pathLst>
              <a:path h="11157797" w="6276261">
                <a:moveTo>
                  <a:pt x="0" y="0"/>
                </a:moveTo>
                <a:lnTo>
                  <a:pt x="6276261" y="0"/>
                </a:lnTo>
                <a:lnTo>
                  <a:pt x="6276261" y="11157797"/>
                </a:lnTo>
                <a:lnTo>
                  <a:pt x="0" y="11157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3226">
            <a:off x="11278812" y="3520233"/>
            <a:ext cx="4745700" cy="4745700"/>
          </a:xfrm>
          <a:custGeom>
            <a:avLst/>
            <a:gdLst/>
            <a:ahLst/>
            <a:cxnLst/>
            <a:rect r="r" b="b" t="t" l="l"/>
            <a:pathLst>
              <a:path h="4745700" w="4745700">
                <a:moveTo>
                  <a:pt x="0" y="0"/>
                </a:moveTo>
                <a:lnTo>
                  <a:pt x="4745699" y="0"/>
                </a:lnTo>
                <a:lnTo>
                  <a:pt x="4745699" y="4745700"/>
                </a:lnTo>
                <a:lnTo>
                  <a:pt x="0" y="474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3226">
            <a:off x="13974882" y="1458630"/>
            <a:ext cx="2796576" cy="2090441"/>
          </a:xfrm>
          <a:custGeom>
            <a:avLst/>
            <a:gdLst/>
            <a:ahLst/>
            <a:cxnLst/>
            <a:rect r="r" b="b" t="t" l="l"/>
            <a:pathLst>
              <a:path h="2090441" w="2796576">
                <a:moveTo>
                  <a:pt x="0" y="0"/>
                </a:moveTo>
                <a:lnTo>
                  <a:pt x="2796576" y="0"/>
                </a:lnTo>
                <a:lnTo>
                  <a:pt x="2796576" y="2090441"/>
                </a:lnTo>
                <a:lnTo>
                  <a:pt x="0" y="2090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9005" y="2986132"/>
            <a:ext cx="14935659" cy="176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14"/>
              </a:lnSpc>
            </a:pPr>
            <a:r>
              <a:rPr lang="en-US" sz="11813">
                <a:solidFill>
                  <a:srgbClr val="FAFAE8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Gratidão!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8620" y="5443278"/>
            <a:ext cx="12518277" cy="88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4"/>
              </a:lnSpc>
            </a:pPr>
            <a:r>
              <a:rPr lang="en-US" b="true" sz="5418">
                <a:solidFill>
                  <a:srgbClr val="0B385B"/>
                </a:solidFill>
                <a:latin typeface="DM Sans Bold"/>
                <a:ea typeface="DM Sans Bold"/>
                <a:cs typeface="DM Sans Bold"/>
                <a:sym typeface="DM Sans Bold"/>
              </a:rPr>
              <a:t>Dúvidas?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DAG9wA756Q8</dc:identifier>
  <dcterms:modified xsi:type="dcterms:W3CDTF">2011-08-01T06:04:30Z</dcterms:modified>
  <cp:revision>1</cp:revision>
  <dc:title>SD3 - Aula 2 - Slides - Do petróleo ao plástico</dc:title>
</cp:coreProperties>
</file>