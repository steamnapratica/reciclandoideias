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inate Bold" charset="1" panose="020C0803030508020204"/>
      <p:regular r:id="rId19"/>
    </p:embeddedFont>
    <p:embeddedFont>
      <p:font typeface="Bisdak" charset="1" panose="00000400000000000000"/>
      <p:regular r:id="rId20"/>
    </p:embeddedFont>
    <p:embeddedFont>
      <p:font typeface="Binate" charset="1" panose="020C0503030508020204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jpeg" Type="http://schemas.openxmlformats.org/officeDocument/2006/relationships/image"/><Relationship Id="rId3" Target="https://www.youtube.com/watch?v=V5e8_Jp67M0" TargetMode="External" Type="http://schemas.openxmlformats.org/officeDocument/2006/relationships/video"/><Relationship Id="rId4" Target="https://www.youtube.com/watch?v=V5e8_Jp67M0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301799"/>
            <a:ext cx="18288000" cy="2985201"/>
            <a:chOff x="0" y="0"/>
            <a:chExt cx="4816593" cy="7862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86226"/>
            </a:xfrm>
            <a:custGeom>
              <a:avLst/>
              <a:gdLst/>
              <a:ahLst/>
              <a:cxnLst/>
              <a:rect r="r" b="b" t="t" l="l"/>
              <a:pathLst>
                <a:path h="7862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86226"/>
                  </a:lnTo>
                  <a:lnTo>
                    <a:pt x="0" y="786226"/>
                  </a:lnTo>
                  <a:close/>
                </a:path>
              </a:pathLst>
            </a:custGeom>
            <a:solidFill>
              <a:srgbClr val="A45DD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824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319209"/>
            <a:ext cx="18288000" cy="9098280"/>
          </a:xfrm>
          <a:custGeom>
            <a:avLst/>
            <a:gdLst/>
            <a:ahLst/>
            <a:cxnLst/>
            <a:rect r="r" b="b" t="t" l="l"/>
            <a:pathLst>
              <a:path h="9098280" w="18288000">
                <a:moveTo>
                  <a:pt x="0" y="0"/>
                </a:moveTo>
                <a:lnTo>
                  <a:pt x="18288000" y="0"/>
                </a:lnTo>
                <a:lnTo>
                  <a:pt x="18288000" y="9098280"/>
                </a:lnTo>
                <a:lnTo>
                  <a:pt x="0" y="9098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919399" y="7762220"/>
            <a:ext cx="6606876" cy="572666"/>
            <a:chOff x="0" y="0"/>
            <a:chExt cx="1740083" cy="1508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40083" cy="150825"/>
            </a:xfrm>
            <a:custGeom>
              <a:avLst/>
              <a:gdLst/>
              <a:ahLst/>
              <a:cxnLst/>
              <a:rect r="r" b="b" t="t" l="l"/>
              <a:pathLst>
                <a:path h="150825" w="1740083">
                  <a:moveTo>
                    <a:pt x="45700" y="0"/>
                  </a:moveTo>
                  <a:lnTo>
                    <a:pt x="1694382" y="0"/>
                  </a:lnTo>
                  <a:cubicBezTo>
                    <a:pt x="1706503" y="0"/>
                    <a:pt x="1718127" y="4815"/>
                    <a:pt x="1726697" y="13385"/>
                  </a:cubicBezTo>
                  <a:cubicBezTo>
                    <a:pt x="1735268" y="21956"/>
                    <a:pt x="1740083" y="33580"/>
                    <a:pt x="1740083" y="45700"/>
                  </a:cubicBezTo>
                  <a:lnTo>
                    <a:pt x="1740083" y="105125"/>
                  </a:lnTo>
                  <a:cubicBezTo>
                    <a:pt x="1740083" y="130365"/>
                    <a:pt x="1719622" y="150825"/>
                    <a:pt x="1694382" y="150825"/>
                  </a:cubicBezTo>
                  <a:lnTo>
                    <a:pt x="45700" y="150825"/>
                  </a:lnTo>
                  <a:cubicBezTo>
                    <a:pt x="33580" y="150825"/>
                    <a:pt x="21956" y="146011"/>
                    <a:pt x="13385" y="137440"/>
                  </a:cubicBezTo>
                  <a:cubicBezTo>
                    <a:pt x="4815" y="128870"/>
                    <a:pt x="0" y="117246"/>
                    <a:pt x="0" y="105125"/>
                  </a:cubicBezTo>
                  <a:lnTo>
                    <a:pt x="0" y="45700"/>
                  </a:lnTo>
                  <a:cubicBezTo>
                    <a:pt x="0" y="33580"/>
                    <a:pt x="4815" y="21956"/>
                    <a:pt x="13385" y="13385"/>
                  </a:cubicBezTo>
                  <a:cubicBezTo>
                    <a:pt x="21956" y="4815"/>
                    <a:pt x="33580" y="0"/>
                    <a:pt x="45700" y="0"/>
                  </a:cubicBezTo>
                  <a:close/>
                </a:path>
              </a:pathLst>
            </a:custGeom>
            <a:solidFill>
              <a:srgbClr val="D4FF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740083" cy="19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66999" y="7609820"/>
            <a:ext cx="6671000" cy="647064"/>
            <a:chOff x="0" y="0"/>
            <a:chExt cx="1756971" cy="1704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6971" cy="170420"/>
            </a:xfrm>
            <a:custGeom>
              <a:avLst/>
              <a:gdLst/>
              <a:ahLst/>
              <a:cxnLst/>
              <a:rect r="r" b="b" t="t" l="l"/>
              <a:pathLst>
                <a:path h="170420" w="1756971">
                  <a:moveTo>
                    <a:pt x="45261" y="0"/>
                  </a:moveTo>
                  <a:lnTo>
                    <a:pt x="1711710" y="0"/>
                  </a:lnTo>
                  <a:cubicBezTo>
                    <a:pt x="1736707" y="0"/>
                    <a:pt x="1756971" y="20264"/>
                    <a:pt x="1756971" y="45261"/>
                  </a:cubicBezTo>
                  <a:lnTo>
                    <a:pt x="1756971" y="125159"/>
                  </a:lnTo>
                  <a:cubicBezTo>
                    <a:pt x="1756971" y="150156"/>
                    <a:pt x="1736707" y="170420"/>
                    <a:pt x="1711710" y="170420"/>
                  </a:cubicBezTo>
                  <a:lnTo>
                    <a:pt x="45261" y="170420"/>
                  </a:lnTo>
                  <a:cubicBezTo>
                    <a:pt x="20264" y="170420"/>
                    <a:pt x="0" y="150156"/>
                    <a:pt x="0" y="125159"/>
                  </a:cubicBezTo>
                  <a:lnTo>
                    <a:pt x="0" y="45261"/>
                  </a:lnTo>
                  <a:cubicBezTo>
                    <a:pt x="0" y="20264"/>
                    <a:pt x="20264" y="0"/>
                    <a:pt x="45261" y="0"/>
                  </a:cubicBezTo>
                  <a:close/>
                </a:path>
              </a:pathLst>
            </a:custGeom>
            <a:solidFill>
              <a:srgbClr val="FF2D9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756971" cy="218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2A0055"/>
                  </a:solidFill>
                  <a:latin typeface="Binate Bold"/>
                  <a:ea typeface="Binate Bold"/>
                  <a:cs typeface="Binate Bold"/>
                  <a:sym typeface="Binate Bold"/>
                </a:rPr>
                <a:t>INÍCIO DE JOGO...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202839">
            <a:off x="10896413" y="7830403"/>
            <a:ext cx="425758" cy="688093"/>
          </a:xfrm>
          <a:custGeom>
            <a:avLst/>
            <a:gdLst/>
            <a:ahLst/>
            <a:cxnLst/>
            <a:rect r="r" b="b" t="t" l="l"/>
            <a:pathLst>
              <a:path h="688093" w="425758">
                <a:moveTo>
                  <a:pt x="0" y="0"/>
                </a:moveTo>
                <a:lnTo>
                  <a:pt x="425758" y="0"/>
                </a:lnTo>
                <a:lnTo>
                  <a:pt x="425758" y="688094"/>
                </a:lnTo>
                <a:lnTo>
                  <a:pt x="0" y="6880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201945">
            <a:off x="14389315" y="6621978"/>
            <a:ext cx="2747343" cy="2612474"/>
          </a:xfrm>
          <a:custGeom>
            <a:avLst/>
            <a:gdLst/>
            <a:ahLst/>
            <a:cxnLst/>
            <a:rect r="r" b="b" t="t" l="l"/>
            <a:pathLst>
              <a:path h="2612474" w="2747343">
                <a:moveTo>
                  <a:pt x="0" y="0"/>
                </a:moveTo>
                <a:lnTo>
                  <a:pt x="2747343" y="0"/>
                </a:lnTo>
                <a:lnTo>
                  <a:pt x="2747343" y="2612474"/>
                </a:lnTo>
                <a:lnTo>
                  <a:pt x="0" y="26124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0" y="639235"/>
            <a:ext cx="18288000" cy="254000"/>
            <a:chOff x="0" y="0"/>
            <a:chExt cx="4816593" cy="668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66897"/>
            </a:xfrm>
            <a:custGeom>
              <a:avLst/>
              <a:gdLst/>
              <a:ahLst/>
              <a:cxnLst/>
              <a:rect r="r" b="b" t="t" l="l"/>
              <a:pathLst>
                <a:path h="6689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897"/>
                  </a:lnTo>
                  <a:lnTo>
                    <a:pt x="0" y="66897"/>
                  </a:lnTo>
                  <a:close/>
                </a:path>
              </a:pathLst>
            </a:custGeom>
            <a:solidFill>
              <a:srgbClr val="FF2D9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16593" cy="104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411869"/>
            <a:ext cx="18288000" cy="117213"/>
            <a:chOff x="0" y="0"/>
            <a:chExt cx="4816593" cy="308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16592" cy="30871"/>
            </a:xfrm>
            <a:custGeom>
              <a:avLst/>
              <a:gdLst/>
              <a:ahLst/>
              <a:cxnLst/>
              <a:rect r="r" b="b" t="t" l="l"/>
              <a:pathLst>
                <a:path h="308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0871"/>
                  </a:lnTo>
                  <a:lnTo>
                    <a:pt x="0" y="30871"/>
                  </a:lnTo>
                  <a:close/>
                </a:path>
              </a:pathLst>
            </a:custGeom>
            <a:solidFill>
              <a:srgbClr val="D4FF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16593" cy="68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32235" y="7133570"/>
            <a:ext cx="3011736" cy="2004173"/>
          </a:xfrm>
          <a:custGeom>
            <a:avLst/>
            <a:gdLst/>
            <a:ahLst/>
            <a:cxnLst/>
            <a:rect r="r" b="b" t="t" l="l"/>
            <a:pathLst>
              <a:path h="2004173" w="3011736">
                <a:moveTo>
                  <a:pt x="0" y="0"/>
                </a:moveTo>
                <a:lnTo>
                  <a:pt x="3011735" y="0"/>
                </a:lnTo>
                <a:lnTo>
                  <a:pt x="3011735" y="2004173"/>
                </a:lnTo>
                <a:lnTo>
                  <a:pt x="0" y="20041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70201" y="3349827"/>
            <a:ext cx="1614759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Bisdak"/>
                <a:ea typeface="Bisdak"/>
                <a:cs typeface="Bisdak"/>
                <a:sym typeface="Bisdak"/>
              </a:rPr>
              <a:t>PROBABILIDADE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4327" y="1268157"/>
            <a:ext cx="1615634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SD3 - Plástico é a alma do negócio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Aula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777249">
            <a:off x="-100608" y="3891589"/>
            <a:ext cx="26499468" cy="9506684"/>
          </a:xfrm>
          <a:custGeom>
            <a:avLst/>
            <a:gdLst/>
            <a:ahLst/>
            <a:cxnLst/>
            <a:rect r="r" b="b" t="t" l="l"/>
            <a:pathLst>
              <a:path h="9506684" w="26499468">
                <a:moveTo>
                  <a:pt x="0" y="0"/>
                </a:moveTo>
                <a:lnTo>
                  <a:pt x="26499468" y="0"/>
                </a:lnTo>
                <a:lnTo>
                  <a:pt x="26499468" y="9506684"/>
                </a:lnTo>
                <a:lnTo>
                  <a:pt x="0" y="9506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8958" y="2401887"/>
            <a:ext cx="6545115" cy="7245514"/>
          </a:xfrm>
          <a:custGeom>
            <a:avLst/>
            <a:gdLst/>
            <a:ahLst/>
            <a:cxnLst/>
            <a:rect r="r" b="b" t="t" l="l"/>
            <a:pathLst>
              <a:path h="7245514" w="6545115">
                <a:moveTo>
                  <a:pt x="0" y="0"/>
                </a:moveTo>
                <a:lnTo>
                  <a:pt x="6545115" y="0"/>
                </a:lnTo>
                <a:lnTo>
                  <a:pt x="6545115" y="7245515"/>
                </a:lnTo>
                <a:lnTo>
                  <a:pt x="0" y="7245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10419" y="0"/>
            <a:ext cx="240287" cy="10287000"/>
            <a:chOff x="0" y="0"/>
            <a:chExt cx="63285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2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285">
                  <a:moveTo>
                    <a:pt x="0" y="0"/>
                  </a:moveTo>
                  <a:lnTo>
                    <a:pt x="63285" y="0"/>
                  </a:lnTo>
                  <a:lnTo>
                    <a:pt x="632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2D9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328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8413" y="0"/>
            <a:ext cx="240287" cy="10287000"/>
            <a:chOff x="0" y="0"/>
            <a:chExt cx="63285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2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285">
                  <a:moveTo>
                    <a:pt x="0" y="0"/>
                  </a:moveTo>
                  <a:lnTo>
                    <a:pt x="63285" y="0"/>
                  </a:lnTo>
                  <a:lnTo>
                    <a:pt x="632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4FF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28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827508" y="1787525"/>
            <a:ext cx="881113" cy="1028700"/>
          </a:xfrm>
          <a:custGeom>
            <a:avLst/>
            <a:gdLst/>
            <a:ahLst/>
            <a:cxnLst/>
            <a:rect r="r" b="b" t="t" l="l"/>
            <a:pathLst>
              <a:path h="1028700" w="881113">
                <a:moveTo>
                  <a:pt x="0" y="0"/>
                </a:moveTo>
                <a:lnTo>
                  <a:pt x="881114" y="0"/>
                </a:lnTo>
                <a:lnTo>
                  <a:pt x="88111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45582" y="933450"/>
            <a:ext cx="9367552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Bisdak"/>
                <a:ea typeface="Bisdak"/>
                <a:cs typeface="Bisdak"/>
                <a:sym typeface="Bisdak"/>
              </a:rPr>
              <a:t>PROBABILIDADE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5582" y="2344737"/>
            <a:ext cx="9080026" cy="554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Probabilidade é a medida da chance de um evento acontecer. Ela varia de 0 (impossível) a 1 (certeza).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Exemplo: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0 = Tirar 10 em um dado de 6 lados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0,5 = Tirar cara ao lançar uma moeda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1 = Comprar uma carta de um baralho completo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6883895" y="8820014"/>
            <a:ext cx="750811" cy="876571"/>
          </a:xfrm>
          <a:custGeom>
            <a:avLst/>
            <a:gdLst/>
            <a:ahLst/>
            <a:cxnLst/>
            <a:rect r="r" b="b" t="t" l="l"/>
            <a:pathLst>
              <a:path h="876571" w="750811">
                <a:moveTo>
                  <a:pt x="750810" y="876572"/>
                </a:moveTo>
                <a:lnTo>
                  <a:pt x="0" y="876572"/>
                </a:lnTo>
                <a:lnTo>
                  <a:pt x="0" y="0"/>
                </a:lnTo>
                <a:lnTo>
                  <a:pt x="750810" y="0"/>
                </a:lnTo>
                <a:lnTo>
                  <a:pt x="750810" y="876572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2627118" y="5858272"/>
            <a:ext cx="23542236" cy="8445777"/>
          </a:xfrm>
          <a:custGeom>
            <a:avLst/>
            <a:gdLst/>
            <a:ahLst/>
            <a:cxnLst/>
            <a:rect r="r" b="b" t="t" l="l"/>
            <a:pathLst>
              <a:path h="8445777" w="23542236">
                <a:moveTo>
                  <a:pt x="0" y="0"/>
                </a:moveTo>
                <a:lnTo>
                  <a:pt x="23542236" y="0"/>
                </a:lnTo>
                <a:lnTo>
                  <a:pt x="23542236" y="8445777"/>
                </a:lnTo>
                <a:lnTo>
                  <a:pt x="0" y="84457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81166" y="3714236"/>
            <a:ext cx="6222875" cy="4827914"/>
          </a:xfrm>
          <a:custGeom>
            <a:avLst/>
            <a:gdLst/>
            <a:ahLst/>
            <a:cxnLst/>
            <a:rect r="r" b="b" t="t" l="l"/>
            <a:pathLst>
              <a:path h="4827914" w="6222875">
                <a:moveTo>
                  <a:pt x="0" y="0"/>
                </a:moveTo>
                <a:lnTo>
                  <a:pt x="6222874" y="0"/>
                </a:lnTo>
                <a:lnTo>
                  <a:pt x="6222874" y="4827913"/>
                </a:lnTo>
                <a:lnTo>
                  <a:pt x="0" y="48279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10419" y="0"/>
            <a:ext cx="240287" cy="10287000"/>
            <a:chOff x="0" y="0"/>
            <a:chExt cx="63285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2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285">
                  <a:moveTo>
                    <a:pt x="0" y="0"/>
                  </a:moveTo>
                  <a:lnTo>
                    <a:pt x="63285" y="0"/>
                  </a:lnTo>
                  <a:lnTo>
                    <a:pt x="632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2D9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328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8413" y="0"/>
            <a:ext cx="240287" cy="10287000"/>
            <a:chOff x="0" y="0"/>
            <a:chExt cx="63285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2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285">
                  <a:moveTo>
                    <a:pt x="0" y="0"/>
                  </a:moveTo>
                  <a:lnTo>
                    <a:pt x="63285" y="0"/>
                  </a:lnTo>
                  <a:lnTo>
                    <a:pt x="632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4FF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28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46003" y="1063408"/>
            <a:ext cx="1199361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Bisdak"/>
                <a:ea typeface="Bisdak"/>
                <a:cs typeface="Bisdak"/>
                <a:sym typeface="Bisdak"/>
              </a:rPr>
              <a:t>termos importantes: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2265" y="2947884"/>
            <a:ext cx="3719864" cy="2696616"/>
            <a:chOff x="0" y="0"/>
            <a:chExt cx="979717" cy="7102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9717" cy="710220"/>
            </a:xfrm>
            <a:custGeom>
              <a:avLst/>
              <a:gdLst/>
              <a:ahLst/>
              <a:cxnLst/>
              <a:rect r="r" b="b" t="t" l="l"/>
              <a:pathLst>
                <a:path h="710220" w="979717">
                  <a:moveTo>
                    <a:pt x="22894" y="0"/>
                  </a:moveTo>
                  <a:lnTo>
                    <a:pt x="956824" y="0"/>
                  </a:lnTo>
                  <a:cubicBezTo>
                    <a:pt x="969467" y="0"/>
                    <a:pt x="979717" y="10250"/>
                    <a:pt x="979717" y="22894"/>
                  </a:cubicBezTo>
                  <a:lnTo>
                    <a:pt x="979717" y="687326"/>
                  </a:lnTo>
                  <a:cubicBezTo>
                    <a:pt x="979717" y="699970"/>
                    <a:pt x="969467" y="710220"/>
                    <a:pt x="956824" y="710220"/>
                  </a:cubicBezTo>
                  <a:lnTo>
                    <a:pt x="22894" y="710220"/>
                  </a:lnTo>
                  <a:cubicBezTo>
                    <a:pt x="10250" y="710220"/>
                    <a:pt x="0" y="699970"/>
                    <a:pt x="0" y="687326"/>
                  </a:cubicBezTo>
                  <a:lnTo>
                    <a:pt x="0" y="22894"/>
                  </a:lnTo>
                  <a:cubicBezTo>
                    <a:pt x="0" y="10250"/>
                    <a:pt x="10250" y="0"/>
                    <a:pt x="22894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A45DD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79717" cy="757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68383" y="2947884"/>
            <a:ext cx="3719864" cy="2696616"/>
            <a:chOff x="0" y="0"/>
            <a:chExt cx="979717" cy="7102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9717" cy="710220"/>
            </a:xfrm>
            <a:custGeom>
              <a:avLst/>
              <a:gdLst/>
              <a:ahLst/>
              <a:cxnLst/>
              <a:rect r="r" b="b" t="t" l="l"/>
              <a:pathLst>
                <a:path h="710220" w="979717">
                  <a:moveTo>
                    <a:pt x="22894" y="0"/>
                  </a:moveTo>
                  <a:lnTo>
                    <a:pt x="956824" y="0"/>
                  </a:lnTo>
                  <a:cubicBezTo>
                    <a:pt x="969467" y="0"/>
                    <a:pt x="979717" y="10250"/>
                    <a:pt x="979717" y="22894"/>
                  </a:cubicBezTo>
                  <a:lnTo>
                    <a:pt x="979717" y="687326"/>
                  </a:lnTo>
                  <a:cubicBezTo>
                    <a:pt x="979717" y="699970"/>
                    <a:pt x="969467" y="710220"/>
                    <a:pt x="956824" y="710220"/>
                  </a:cubicBezTo>
                  <a:lnTo>
                    <a:pt x="22894" y="710220"/>
                  </a:lnTo>
                  <a:cubicBezTo>
                    <a:pt x="10250" y="710220"/>
                    <a:pt x="0" y="699970"/>
                    <a:pt x="0" y="687326"/>
                  </a:cubicBezTo>
                  <a:lnTo>
                    <a:pt x="0" y="22894"/>
                  </a:lnTo>
                  <a:cubicBezTo>
                    <a:pt x="0" y="10250"/>
                    <a:pt x="10250" y="0"/>
                    <a:pt x="22894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A45DDB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79717" cy="757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2265" y="6072043"/>
            <a:ext cx="3719864" cy="2696616"/>
            <a:chOff x="0" y="0"/>
            <a:chExt cx="979717" cy="7102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9717" cy="710220"/>
            </a:xfrm>
            <a:custGeom>
              <a:avLst/>
              <a:gdLst/>
              <a:ahLst/>
              <a:cxnLst/>
              <a:rect r="r" b="b" t="t" l="l"/>
              <a:pathLst>
                <a:path h="710220" w="979717">
                  <a:moveTo>
                    <a:pt x="22894" y="0"/>
                  </a:moveTo>
                  <a:lnTo>
                    <a:pt x="956824" y="0"/>
                  </a:lnTo>
                  <a:cubicBezTo>
                    <a:pt x="969467" y="0"/>
                    <a:pt x="979717" y="10250"/>
                    <a:pt x="979717" y="22894"/>
                  </a:cubicBezTo>
                  <a:lnTo>
                    <a:pt x="979717" y="687326"/>
                  </a:lnTo>
                  <a:cubicBezTo>
                    <a:pt x="979717" y="699970"/>
                    <a:pt x="969467" y="710220"/>
                    <a:pt x="956824" y="710220"/>
                  </a:cubicBezTo>
                  <a:lnTo>
                    <a:pt x="22894" y="710220"/>
                  </a:lnTo>
                  <a:cubicBezTo>
                    <a:pt x="10250" y="710220"/>
                    <a:pt x="0" y="699970"/>
                    <a:pt x="0" y="687326"/>
                  </a:cubicBezTo>
                  <a:lnTo>
                    <a:pt x="0" y="22894"/>
                  </a:lnTo>
                  <a:cubicBezTo>
                    <a:pt x="0" y="10250"/>
                    <a:pt x="10250" y="0"/>
                    <a:pt x="22894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FF2D9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79717" cy="757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68383" y="6072043"/>
            <a:ext cx="3719864" cy="2696616"/>
            <a:chOff x="0" y="0"/>
            <a:chExt cx="979717" cy="7102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9717" cy="710220"/>
            </a:xfrm>
            <a:custGeom>
              <a:avLst/>
              <a:gdLst/>
              <a:ahLst/>
              <a:cxnLst/>
              <a:rect r="r" b="b" t="t" l="l"/>
              <a:pathLst>
                <a:path h="710220" w="979717">
                  <a:moveTo>
                    <a:pt x="22894" y="0"/>
                  </a:moveTo>
                  <a:lnTo>
                    <a:pt x="956824" y="0"/>
                  </a:lnTo>
                  <a:cubicBezTo>
                    <a:pt x="969467" y="0"/>
                    <a:pt x="979717" y="10250"/>
                    <a:pt x="979717" y="22894"/>
                  </a:cubicBezTo>
                  <a:lnTo>
                    <a:pt x="979717" y="687326"/>
                  </a:lnTo>
                  <a:cubicBezTo>
                    <a:pt x="979717" y="699970"/>
                    <a:pt x="969467" y="710220"/>
                    <a:pt x="956824" y="710220"/>
                  </a:cubicBezTo>
                  <a:lnTo>
                    <a:pt x="22894" y="710220"/>
                  </a:lnTo>
                  <a:cubicBezTo>
                    <a:pt x="10250" y="710220"/>
                    <a:pt x="0" y="699970"/>
                    <a:pt x="0" y="687326"/>
                  </a:cubicBezTo>
                  <a:lnTo>
                    <a:pt x="0" y="22894"/>
                  </a:lnTo>
                  <a:cubicBezTo>
                    <a:pt x="0" y="10250"/>
                    <a:pt x="10250" y="0"/>
                    <a:pt x="22894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FF2D9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79717" cy="757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569055" y="3469023"/>
            <a:ext cx="3318519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2A0055"/>
                </a:solidFill>
                <a:latin typeface="Binate Bold"/>
                <a:ea typeface="Binate Bold"/>
                <a:cs typeface="Binate Bold"/>
                <a:sym typeface="Binate Bold"/>
              </a:rPr>
              <a:t>Resultado: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A0055"/>
                </a:solidFill>
                <a:latin typeface="Binate"/>
                <a:ea typeface="Binate"/>
                <a:cs typeface="Binate"/>
                <a:sym typeface="Binate"/>
              </a:rPr>
              <a:t>Um resultado possível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78220" y="3247172"/>
            <a:ext cx="3247954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2A0055"/>
                </a:solidFill>
                <a:latin typeface="Binate Bold"/>
                <a:ea typeface="Binate Bold"/>
                <a:cs typeface="Binate Bold"/>
                <a:sym typeface="Binate Bold"/>
              </a:rPr>
              <a:t>Experimento:</a:t>
            </a:r>
            <a:r>
              <a:rPr lang="en-US" sz="2900">
                <a:solidFill>
                  <a:srgbClr val="2A0055"/>
                </a:solidFill>
                <a:latin typeface="Binate"/>
                <a:ea typeface="Binate"/>
                <a:cs typeface="Binate"/>
                <a:sym typeface="Binate"/>
              </a:rPr>
              <a:t> Uma ação com resultados incertos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78220" y="6518652"/>
            <a:ext cx="3247954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2A0055"/>
                </a:solidFill>
                <a:latin typeface="Binate Bold"/>
                <a:ea typeface="Binate Bold"/>
                <a:cs typeface="Binate Bold"/>
                <a:sym typeface="Binate Bold"/>
              </a:rPr>
              <a:t>Evento: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2A0055"/>
                </a:solidFill>
                <a:latin typeface="Binate"/>
                <a:ea typeface="Binate"/>
                <a:cs typeface="Binate"/>
                <a:sym typeface="Binate"/>
              </a:rPr>
              <a:t>Um conjunto de resultados dentro do espaço amostral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86360" y="6601201"/>
            <a:ext cx="3483909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2A0055"/>
                </a:solidFill>
                <a:latin typeface="Binate Bold"/>
                <a:ea typeface="Binate Bold"/>
                <a:cs typeface="Binate Bold"/>
                <a:sym typeface="Binate Bold"/>
              </a:rPr>
              <a:t>Espaço amostral (Ω):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2A0055"/>
                </a:solidFill>
                <a:latin typeface="Binate"/>
                <a:ea typeface="Binate"/>
                <a:cs typeface="Binate"/>
                <a:sym typeface="Binate"/>
              </a:rPr>
              <a:t>Todos os resultados possíveis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2216938" y="3871510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0" y="0"/>
                </a:moveTo>
                <a:lnTo>
                  <a:pt x="730086" y="0"/>
                </a:lnTo>
                <a:lnTo>
                  <a:pt x="730086" y="852376"/>
                </a:lnTo>
                <a:lnTo>
                  <a:pt x="0" y="8523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true" rot="0">
            <a:off x="7203606" y="6658351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730086" y="852376"/>
                </a:moveTo>
                <a:lnTo>
                  <a:pt x="0" y="852376"/>
                </a:lnTo>
                <a:lnTo>
                  <a:pt x="0" y="0"/>
                </a:lnTo>
                <a:lnTo>
                  <a:pt x="730086" y="0"/>
                </a:lnTo>
                <a:lnTo>
                  <a:pt x="730086" y="852376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9048288" y="588006"/>
            <a:ext cx="240287" cy="18336863"/>
            <a:chOff x="0" y="0"/>
            <a:chExt cx="63285" cy="48294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285" cy="4829462"/>
            </a:xfrm>
            <a:custGeom>
              <a:avLst/>
              <a:gdLst/>
              <a:ahLst/>
              <a:cxnLst/>
              <a:rect r="r" b="b" t="t" l="l"/>
              <a:pathLst>
                <a:path h="4829462" w="63285">
                  <a:moveTo>
                    <a:pt x="0" y="0"/>
                  </a:moveTo>
                  <a:lnTo>
                    <a:pt x="63285" y="0"/>
                  </a:lnTo>
                  <a:lnTo>
                    <a:pt x="63285" y="4829462"/>
                  </a:lnTo>
                  <a:lnTo>
                    <a:pt x="0" y="4829462"/>
                  </a:lnTo>
                  <a:close/>
                </a:path>
              </a:pathLst>
            </a:custGeom>
            <a:solidFill>
              <a:srgbClr val="FF2D9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285" cy="4867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9048288" y="210012"/>
            <a:ext cx="240287" cy="18336863"/>
            <a:chOff x="0" y="0"/>
            <a:chExt cx="63285" cy="48294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285" cy="4829462"/>
            </a:xfrm>
            <a:custGeom>
              <a:avLst/>
              <a:gdLst/>
              <a:ahLst/>
              <a:cxnLst/>
              <a:rect r="r" b="b" t="t" l="l"/>
              <a:pathLst>
                <a:path h="4829462" w="63285">
                  <a:moveTo>
                    <a:pt x="0" y="0"/>
                  </a:moveTo>
                  <a:lnTo>
                    <a:pt x="63285" y="0"/>
                  </a:lnTo>
                  <a:lnTo>
                    <a:pt x="63285" y="4829462"/>
                  </a:lnTo>
                  <a:lnTo>
                    <a:pt x="0" y="4829462"/>
                  </a:lnTo>
                  <a:close/>
                </a:path>
              </a:pathLst>
            </a:custGeom>
            <a:solidFill>
              <a:srgbClr val="D4FF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285" cy="4867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-10800000">
            <a:off x="-2809730" y="-3692942"/>
            <a:ext cx="23956323" cy="8594331"/>
          </a:xfrm>
          <a:custGeom>
            <a:avLst/>
            <a:gdLst/>
            <a:ahLst/>
            <a:cxnLst/>
            <a:rect r="r" b="b" t="t" l="l"/>
            <a:pathLst>
              <a:path h="8594331" w="23956323">
                <a:moveTo>
                  <a:pt x="0" y="8594331"/>
                </a:moveTo>
                <a:lnTo>
                  <a:pt x="23956323" y="8594331"/>
                </a:lnTo>
                <a:lnTo>
                  <a:pt x="23956323" y="0"/>
                </a:lnTo>
                <a:lnTo>
                  <a:pt x="0" y="0"/>
                </a:lnTo>
                <a:lnTo>
                  <a:pt x="0" y="8594331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88159">
            <a:off x="-1981937" y="-1183937"/>
            <a:ext cx="6304011" cy="4114800"/>
          </a:xfrm>
          <a:custGeom>
            <a:avLst/>
            <a:gdLst/>
            <a:ahLst/>
            <a:cxnLst/>
            <a:rect r="r" b="b" t="t" l="l"/>
            <a:pathLst>
              <a:path h="4114800" w="6304011">
                <a:moveTo>
                  <a:pt x="0" y="0"/>
                </a:moveTo>
                <a:lnTo>
                  <a:pt x="6304011" y="0"/>
                </a:lnTo>
                <a:lnTo>
                  <a:pt x="6304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013808">
            <a:off x="14759727" y="6403933"/>
            <a:ext cx="2681493" cy="2159821"/>
          </a:xfrm>
          <a:custGeom>
            <a:avLst/>
            <a:gdLst/>
            <a:ahLst/>
            <a:cxnLst/>
            <a:rect r="r" b="b" t="t" l="l"/>
            <a:pathLst>
              <a:path h="2159821" w="2681493">
                <a:moveTo>
                  <a:pt x="0" y="0"/>
                </a:moveTo>
                <a:lnTo>
                  <a:pt x="2681493" y="0"/>
                </a:lnTo>
                <a:lnTo>
                  <a:pt x="2681493" y="2159820"/>
                </a:lnTo>
                <a:lnTo>
                  <a:pt x="0" y="21598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7796303">
            <a:off x="14646560" y="-1308300"/>
            <a:ext cx="3792300" cy="4363526"/>
          </a:xfrm>
          <a:custGeom>
            <a:avLst/>
            <a:gdLst/>
            <a:ahLst/>
            <a:cxnLst/>
            <a:rect r="r" b="b" t="t" l="l"/>
            <a:pathLst>
              <a:path h="4363526" w="3792300">
                <a:moveTo>
                  <a:pt x="0" y="0"/>
                </a:moveTo>
                <a:lnTo>
                  <a:pt x="3792300" y="0"/>
                </a:lnTo>
                <a:lnTo>
                  <a:pt x="3792300" y="4363526"/>
                </a:lnTo>
                <a:lnTo>
                  <a:pt x="0" y="43635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560784" y="2006375"/>
            <a:ext cx="7166432" cy="100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Bisdak"/>
                <a:ea typeface="Bisdak"/>
                <a:cs typeface="Bisdak"/>
                <a:sym typeface="Bisdak"/>
              </a:rPr>
              <a:t>CALCULANDO...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6967" y="6517432"/>
            <a:ext cx="17124523" cy="2468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Exemplo:</a:t>
            </a:r>
          </a:p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Qual a probabilidade de tirar um 3 em um dado?</a:t>
            </a:r>
          </a:p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Favoráveis: 1 (apenas um 3), Total: 6</a:t>
            </a:r>
          </a:p>
          <a:p>
            <a:pPr algn="l" marL="2158969" indent="-719656" lvl="2">
              <a:lnSpc>
                <a:spcPts val="6999"/>
              </a:lnSpc>
              <a:buFont typeface="Arial"/>
              <a:buChar char="⚬"/>
            </a:pPr>
            <a:r>
              <a:rPr lang="en-US" sz="49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P = ⅙ = 0,16666...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616174" y="176325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0" y="0"/>
                </a:moveTo>
                <a:lnTo>
                  <a:pt x="730086" y="0"/>
                </a:lnTo>
                <a:lnTo>
                  <a:pt x="730086" y="852375"/>
                </a:lnTo>
                <a:lnTo>
                  <a:pt x="0" y="852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0" y="2751428"/>
            <a:ext cx="529696" cy="618421"/>
          </a:xfrm>
          <a:custGeom>
            <a:avLst/>
            <a:gdLst/>
            <a:ahLst/>
            <a:cxnLst/>
            <a:rect r="r" b="b" t="t" l="l"/>
            <a:pathLst>
              <a:path h="618421" w="529696">
                <a:moveTo>
                  <a:pt x="529696" y="0"/>
                </a:moveTo>
                <a:lnTo>
                  <a:pt x="0" y="0"/>
                </a:lnTo>
                <a:lnTo>
                  <a:pt x="0" y="618421"/>
                </a:lnTo>
                <a:lnTo>
                  <a:pt x="529696" y="618421"/>
                </a:lnTo>
                <a:lnTo>
                  <a:pt x="529696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72995" y="4382301"/>
            <a:ext cx="6341621" cy="55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2"/>
              </a:lnSpc>
            </a:pPr>
            <a:r>
              <a:rPr lang="en-US" sz="3215" b="true">
                <a:solidFill>
                  <a:srgbClr val="FFFFFF"/>
                </a:solidFill>
                <a:latin typeface="Binate Bold"/>
                <a:ea typeface="Binate Bold"/>
                <a:cs typeface="Binate Bold"/>
                <a:sym typeface="Binate Bold"/>
              </a:rPr>
              <a:t>Resultados favoráveis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72995" y="5218486"/>
            <a:ext cx="6341621" cy="49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6"/>
              </a:lnSpc>
            </a:pPr>
            <a:r>
              <a:rPr lang="en-US" sz="2883" b="true">
                <a:solidFill>
                  <a:srgbClr val="FFFFFF"/>
                </a:solidFill>
                <a:latin typeface="Binate Bold"/>
                <a:ea typeface="Binate Bold"/>
                <a:cs typeface="Binate Bold"/>
                <a:sym typeface="Binate Bold"/>
              </a:rPr>
              <a:t>Total de resultados possíveis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89028" y="4795631"/>
            <a:ext cx="7183967" cy="55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2"/>
              </a:lnSpc>
            </a:pPr>
            <a:r>
              <a:rPr lang="en-US" sz="3215" b="true">
                <a:solidFill>
                  <a:srgbClr val="FFFFFF"/>
                </a:solidFill>
                <a:latin typeface="Binate Bold"/>
                <a:ea typeface="Binate Bold"/>
                <a:cs typeface="Binate Bold"/>
                <a:sym typeface="Binate Bold"/>
              </a:rPr>
              <a:t>Probabilidade de um evento (P) = </a:t>
            </a:r>
          </a:p>
        </p:txBody>
      </p:sp>
      <p:sp>
        <p:nvSpPr>
          <p:cNvPr name="AutoShape 19" id="19"/>
          <p:cNvSpPr/>
          <p:nvPr/>
        </p:nvSpPr>
        <p:spPr>
          <a:xfrm>
            <a:off x="9172995" y="5106643"/>
            <a:ext cx="634162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1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29479" y="1866706"/>
            <a:ext cx="3184400" cy="1294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94"/>
              </a:lnSpc>
            </a:pPr>
            <a:r>
              <a:rPr lang="en-US" sz="7638" b="true">
                <a:solidFill>
                  <a:srgbClr val="FFFFFF"/>
                </a:solidFill>
                <a:latin typeface="Binate Bold"/>
                <a:ea typeface="Binate Bold"/>
                <a:cs typeface="Binate Bold"/>
                <a:sym typeface="Binate Bold"/>
              </a:rPr>
              <a:t>P (A) = 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8870158" y="2624891"/>
            <a:ext cx="4388363" cy="0"/>
          </a:xfrm>
          <a:prstGeom prst="line">
            <a:avLst/>
          </a:prstGeom>
          <a:ln cap="flat" w="857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167694" y="895350"/>
            <a:ext cx="3816778" cy="1294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4"/>
              </a:lnSpc>
            </a:pPr>
            <a:r>
              <a:rPr lang="en-US" sz="7638" b="true">
                <a:solidFill>
                  <a:srgbClr val="FFFFFF"/>
                </a:solidFill>
                <a:latin typeface="Binate Bold"/>
                <a:ea typeface="Binate Bold"/>
                <a:cs typeface="Binate Bold"/>
                <a:sym typeface="Binate Bold"/>
              </a:rPr>
              <a:t>n (A)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70158" y="2936437"/>
            <a:ext cx="4388363" cy="115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8"/>
              </a:lnSpc>
            </a:pPr>
            <a:r>
              <a:rPr lang="en-US" sz="6848" b="true">
                <a:solidFill>
                  <a:srgbClr val="FFFFFF"/>
                </a:solidFill>
                <a:latin typeface="Binate Bold"/>
                <a:ea typeface="Binate Bold"/>
                <a:cs typeface="Binate Bold"/>
                <a:sym typeface="Binate Bold"/>
              </a:rPr>
              <a:t>n (Ω)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8072" y="4881190"/>
            <a:ext cx="15151855" cy="432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2"/>
              </a:lnSpc>
            </a:pPr>
            <a:r>
              <a:rPr lang="en-US" sz="4094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Sendo:</a:t>
            </a:r>
          </a:p>
          <a:p>
            <a:pPr algn="l">
              <a:lnSpc>
                <a:spcPts val="5732"/>
              </a:lnSpc>
            </a:pPr>
          </a:p>
          <a:p>
            <a:pPr algn="l">
              <a:lnSpc>
                <a:spcPts val="5732"/>
              </a:lnSpc>
            </a:pPr>
            <a:r>
              <a:rPr lang="en-US" sz="4094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P(A): probabilidade da ocorrência de um evento A.</a:t>
            </a:r>
          </a:p>
          <a:p>
            <a:pPr algn="l">
              <a:lnSpc>
                <a:spcPts val="5732"/>
              </a:lnSpc>
            </a:pPr>
            <a:r>
              <a:rPr lang="en-US" sz="4094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n(A): número de casos favoráveis ou, que nos interessam (evento A).</a:t>
            </a:r>
          </a:p>
          <a:p>
            <a:pPr algn="l">
              <a:lnSpc>
                <a:spcPts val="5732"/>
              </a:lnSpc>
            </a:pPr>
            <a:r>
              <a:rPr lang="en-US" sz="4094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n(Ω): número total de casos possíveis.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421218">
            <a:off x="-8919422" y="3027718"/>
            <a:ext cx="23956323" cy="8594331"/>
          </a:xfrm>
          <a:custGeom>
            <a:avLst/>
            <a:gdLst/>
            <a:ahLst/>
            <a:cxnLst/>
            <a:rect r="r" b="b" t="t" l="l"/>
            <a:pathLst>
              <a:path h="8594331" w="23956323">
                <a:moveTo>
                  <a:pt x="0" y="8594331"/>
                </a:moveTo>
                <a:lnTo>
                  <a:pt x="23956323" y="8594331"/>
                </a:lnTo>
                <a:lnTo>
                  <a:pt x="23956323" y="0"/>
                </a:lnTo>
                <a:lnTo>
                  <a:pt x="0" y="0"/>
                </a:lnTo>
                <a:lnTo>
                  <a:pt x="0" y="8594331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999425" y="-8637869"/>
            <a:ext cx="240287" cy="18336863"/>
            <a:chOff x="0" y="0"/>
            <a:chExt cx="63285" cy="48294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285" cy="4829462"/>
            </a:xfrm>
            <a:custGeom>
              <a:avLst/>
              <a:gdLst/>
              <a:ahLst/>
              <a:cxnLst/>
              <a:rect r="r" b="b" t="t" l="l"/>
              <a:pathLst>
                <a:path h="4829462" w="63285">
                  <a:moveTo>
                    <a:pt x="0" y="0"/>
                  </a:moveTo>
                  <a:lnTo>
                    <a:pt x="63285" y="0"/>
                  </a:lnTo>
                  <a:lnTo>
                    <a:pt x="63285" y="4829462"/>
                  </a:lnTo>
                  <a:lnTo>
                    <a:pt x="0" y="4829462"/>
                  </a:lnTo>
                  <a:close/>
                </a:path>
              </a:pathLst>
            </a:custGeom>
            <a:solidFill>
              <a:srgbClr val="FF2D9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285" cy="4867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8999425" y="-8259875"/>
            <a:ext cx="240287" cy="18336863"/>
            <a:chOff x="0" y="0"/>
            <a:chExt cx="63285" cy="48294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285" cy="4829462"/>
            </a:xfrm>
            <a:custGeom>
              <a:avLst/>
              <a:gdLst/>
              <a:ahLst/>
              <a:cxnLst/>
              <a:rect r="r" b="b" t="t" l="l"/>
              <a:pathLst>
                <a:path h="4829462" w="63285">
                  <a:moveTo>
                    <a:pt x="0" y="0"/>
                  </a:moveTo>
                  <a:lnTo>
                    <a:pt x="63285" y="0"/>
                  </a:lnTo>
                  <a:lnTo>
                    <a:pt x="63285" y="4829462"/>
                  </a:lnTo>
                  <a:lnTo>
                    <a:pt x="0" y="4829462"/>
                  </a:lnTo>
                  <a:close/>
                </a:path>
              </a:pathLst>
            </a:custGeom>
            <a:solidFill>
              <a:srgbClr val="D4FF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3285" cy="4867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1790621"/>
            <a:ext cx="5203009" cy="5061108"/>
          </a:xfrm>
          <a:custGeom>
            <a:avLst/>
            <a:gdLst/>
            <a:ahLst/>
            <a:cxnLst/>
            <a:rect r="r" b="b" t="t" l="l"/>
            <a:pathLst>
              <a:path h="5061108" w="5203009">
                <a:moveTo>
                  <a:pt x="0" y="0"/>
                </a:moveTo>
                <a:lnTo>
                  <a:pt x="5203009" y="0"/>
                </a:lnTo>
                <a:lnTo>
                  <a:pt x="5203009" y="5061108"/>
                </a:lnTo>
                <a:lnTo>
                  <a:pt x="0" y="5061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411001">
            <a:off x="14221191" y="6866822"/>
            <a:ext cx="3885299" cy="3023469"/>
          </a:xfrm>
          <a:custGeom>
            <a:avLst/>
            <a:gdLst/>
            <a:ahLst/>
            <a:cxnLst/>
            <a:rect r="r" b="b" t="t" l="l"/>
            <a:pathLst>
              <a:path h="3023469" w="3885299">
                <a:moveTo>
                  <a:pt x="3885299" y="0"/>
                </a:moveTo>
                <a:lnTo>
                  <a:pt x="0" y="0"/>
                </a:lnTo>
                <a:lnTo>
                  <a:pt x="0" y="3023469"/>
                </a:lnTo>
                <a:lnTo>
                  <a:pt x="3885299" y="3023469"/>
                </a:lnTo>
                <a:lnTo>
                  <a:pt x="388529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083815" y="1915106"/>
            <a:ext cx="9080026" cy="430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Baseado em raciocínio matemático e resultados conhecidos</a:t>
            </a:r>
          </a:p>
          <a:p>
            <a:pPr algn="l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Assume que todos os resultados são igualmente prováveis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Exemplo: Probabilidade de tirar um 3 em um dado = 1/6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6275" y="7518400"/>
            <a:ext cx="9822406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Bisdak"/>
                <a:ea typeface="Bisdak"/>
                <a:cs typeface="Bisdak"/>
                <a:sym typeface="Bisdak"/>
              </a:rPr>
              <a:t>PROBABILIDADE TEÓRICA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414291" y="8207626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0" y="0"/>
                </a:moveTo>
                <a:lnTo>
                  <a:pt x="730086" y="0"/>
                </a:lnTo>
                <a:lnTo>
                  <a:pt x="730086" y="852376"/>
                </a:lnTo>
                <a:lnTo>
                  <a:pt x="0" y="8523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421218">
            <a:off x="3004183" y="-1549850"/>
            <a:ext cx="23956323" cy="8594331"/>
          </a:xfrm>
          <a:custGeom>
            <a:avLst/>
            <a:gdLst/>
            <a:ahLst/>
            <a:cxnLst/>
            <a:rect r="r" b="b" t="t" l="l"/>
            <a:pathLst>
              <a:path h="8594331" w="23956323">
                <a:moveTo>
                  <a:pt x="23956322" y="0"/>
                </a:moveTo>
                <a:lnTo>
                  <a:pt x="0" y="0"/>
                </a:lnTo>
                <a:lnTo>
                  <a:pt x="0" y="8594331"/>
                </a:lnTo>
                <a:lnTo>
                  <a:pt x="23956322" y="8594331"/>
                </a:lnTo>
                <a:lnTo>
                  <a:pt x="23956322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0419" y="0"/>
            <a:ext cx="240287" cy="10287000"/>
            <a:chOff x="0" y="0"/>
            <a:chExt cx="6328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2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285">
                  <a:moveTo>
                    <a:pt x="0" y="0"/>
                  </a:moveTo>
                  <a:lnTo>
                    <a:pt x="63285" y="0"/>
                  </a:lnTo>
                  <a:lnTo>
                    <a:pt x="632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2D9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28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88413" y="0"/>
            <a:ext cx="240287" cy="10287000"/>
            <a:chOff x="0" y="0"/>
            <a:chExt cx="63285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2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285">
                  <a:moveTo>
                    <a:pt x="0" y="0"/>
                  </a:moveTo>
                  <a:lnTo>
                    <a:pt x="63285" y="0"/>
                  </a:lnTo>
                  <a:lnTo>
                    <a:pt x="632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4FF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328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01516" y="-724954"/>
            <a:ext cx="5849744" cy="3850195"/>
          </a:xfrm>
          <a:custGeom>
            <a:avLst/>
            <a:gdLst/>
            <a:ahLst/>
            <a:cxnLst/>
            <a:rect r="r" b="b" t="t" l="l"/>
            <a:pathLst>
              <a:path h="3850195" w="5849744">
                <a:moveTo>
                  <a:pt x="0" y="0"/>
                </a:moveTo>
                <a:lnTo>
                  <a:pt x="5849744" y="0"/>
                </a:lnTo>
                <a:lnTo>
                  <a:pt x="5849744" y="3850196"/>
                </a:lnTo>
                <a:lnTo>
                  <a:pt x="0" y="3850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59378" y="5143500"/>
            <a:ext cx="4431234" cy="4732386"/>
          </a:xfrm>
          <a:custGeom>
            <a:avLst/>
            <a:gdLst/>
            <a:ahLst/>
            <a:cxnLst/>
            <a:rect r="r" b="b" t="t" l="l"/>
            <a:pathLst>
              <a:path h="4732386" w="4431234">
                <a:moveTo>
                  <a:pt x="0" y="0"/>
                </a:moveTo>
                <a:lnTo>
                  <a:pt x="4431234" y="0"/>
                </a:lnTo>
                <a:lnTo>
                  <a:pt x="4431234" y="4732386"/>
                </a:lnTo>
                <a:lnTo>
                  <a:pt x="0" y="47323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868206" y="549702"/>
            <a:ext cx="9822406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Bisdak"/>
                <a:ea typeface="Bisdak"/>
                <a:cs typeface="Bisdak"/>
                <a:sym typeface="Bisdak"/>
              </a:rPr>
              <a:t>PROBABILIDADE EXPERIMENTAL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03214" y="3827512"/>
            <a:ext cx="9080026" cy="430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Com base em resultados reais de testes ou experimentos.</a:t>
            </a:r>
          </a:p>
          <a:p>
            <a:pPr algn="l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Os res</a:t>
            </a:r>
            <a:r>
              <a:rPr lang="en-US" sz="3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ultados podem variar a cada vez devido ao acaso.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Exemplo: Lancei um dado 20 vezes e obtive três vezes o número 3 → 3/20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183185" y="347768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0" y="0"/>
                </a:moveTo>
                <a:lnTo>
                  <a:pt x="730086" y="0"/>
                </a:lnTo>
                <a:lnTo>
                  <a:pt x="730086" y="852376"/>
                </a:lnTo>
                <a:lnTo>
                  <a:pt x="0" y="8523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2894335" y="8748763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0" y="852375"/>
                </a:moveTo>
                <a:lnTo>
                  <a:pt x="730086" y="852375"/>
                </a:lnTo>
                <a:lnTo>
                  <a:pt x="730086" y="0"/>
                </a:lnTo>
                <a:lnTo>
                  <a:pt x="0" y="0"/>
                </a:lnTo>
                <a:lnTo>
                  <a:pt x="0" y="852375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0">
            <a:off x="17237090" y="5337787"/>
            <a:ext cx="453522" cy="529487"/>
          </a:xfrm>
          <a:custGeom>
            <a:avLst/>
            <a:gdLst/>
            <a:ahLst/>
            <a:cxnLst/>
            <a:rect r="r" b="b" t="t" l="l"/>
            <a:pathLst>
              <a:path h="529487" w="453522">
                <a:moveTo>
                  <a:pt x="453522" y="529487"/>
                </a:moveTo>
                <a:lnTo>
                  <a:pt x="0" y="529487"/>
                </a:lnTo>
                <a:lnTo>
                  <a:pt x="0" y="0"/>
                </a:lnTo>
                <a:lnTo>
                  <a:pt x="453522" y="0"/>
                </a:lnTo>
                <a:lnTo>
                  <a:pt x="453522" y="529487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563308">
            <a:off x="-9839787" y="-1975563"/>
            <a:ext cx="28044320" cy="10060900"/>
          </a:xfrm>
          <a:custGeom>
            <a:avLst/>
            <a:gdLst/>
            <a:ahLst/>
            <a:cxnLst/>
            <a:rect r="r" b="b" t="t" l="l"/>
            <a:pathLst>
              <a:path h="10060900" w="28044320">
                <a:moveTo>
                  <a:pt x="0" y="10060900"/>
                </a:moveTo>
                <a:lnTo>
                  <a:pt x="28044320" y="10060900"/>
                </a:lnTo>
                <a:lnTo>
                  <a:pt x="28044320" y="0"/>
                </a:lnTo>
                <a:lnTo>
                  <a:pt x="0" y="0"/>
                </a:lnTo>
                <a:lnTo>
                  <a:pt x="0" y="1006090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3184" y="1670685"/>
            <a:ext cx="2718307" cy="2599690"/>
          </a:xfrm>
          <a:custGeom>
            <a:avLst/>
            <a:gdLst/>
            <a:ahLst/>
            <a:cxnLst/>
            <a:rect r="r" b="b" t="t" l="l"/>
            <a:pathLst>
              <a:path h="2599690" w="2718307">
                <a:moveTo>
                  <a:pt x="0" y="0"/>
                </a:moveTo>
                <a:lnTo>
                  <a:pt x="2718307" y="0"/>
                </a:lnTo>
                <a:lnTo>
                  <a:pt x="2718307" y="2599689"/>
                </a:lnTo>
                <a:lnTo>
                  <a:pt x="0" y="25996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380275" y="1625501"/>
            <a:ext cx="7775769" cy="3364787"/>
          </a:xfrm>
          <a:custGeom>
            <a:avLst/>
            <a:gdLst/>
            <a:ahLst/>
            <a:cxnLst/>
            <a:rect r="r" b="b" t="t" l="l"/>
            <a:pathLst>
              <a:path h="3364787" w="7775769">
                <a:moveTo>
                  <a:pt x="0" y="0"/>
                </a:moveTo>
                <a:lnTo>
                  <a:pt x="7775769" y="0"/>
                </a:lnTo>
                <a:lnTo>
                  <a:pt x="7775769" y="3364787"/>
                </a:lnTo>
                <a:lnTo>
                  <a:pt x="0" y="33647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13929" y="6111646"/>
            <a:ext cx="11245371" cy="279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0" indent="-431795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Previsões meteorológicas;</a:t>
            </a:r>
          </a:p>
          <a:p>
            <a:pPr algn="l" marL="863590" indent="-431795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Previsões esportivas;</a:t>
            </a:r>
          </a:p>
          <a:p>
            <a:pPr algn="l" marL="863590" indent="-431795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Riscos médicos;</a:t>
            </a:r>
          </a:p>
          <a:p>
            <a:pPr algn="l" marL="863590" indent="-431795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Sorteios ou loterias.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14624790" y="1625501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0" y="852375"/>
                </a:moveTo>
                <a:lnTo>
                  <a:pt x="730086" y="852375"/>
                </a:lnTo>
                <a:lnTo>
                  <a:pt x="730086" y="0"/>
                </a:lnTo>
                <a:lnTo>
                  <a:pt x="0" y="0"/>
                </a:lnTo>
                <a:lnTo>
                  <a:pt x="0" y="852375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028700" y="4990288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0" y="852376"/>
                </a:moveTo>
                <a:lnTo>
                  <a:pt x="730086" y="852376"/>
                </a:lnTo>
                <a:lnTo>
                  <a:pt x="730086" y="0"/>
                </a:lnTo>
                <a:lnTo>
                  <a:pt x="0" y="0"/>
                </a:lnTo>
                <a:lnTo>
                  <a:pt x="0" y="852376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5400000">
            <a:off x="8999425" y="-8637869"/>
            <a:ext cx="240287" cy="18336863"/>
            <a:chOff x="0" y="0"/>
            <a:chExt cx="63285" cy="48294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285" cy="4829462"/>
            </a:xfrm>
            <a:custGeom>
              <a:avLst/>
              <a:gdLst/>
              <a:ahLst/>
              <a:cxnLst/>
              <a:rect r="r" b="b" t="t" l="l"/>
              <a:pathLst>
                <a:path h="4829462" w="63285">
                  <a:moveTo>
                    <a:pt x="0" y="0"/>
                  </a:moveTo>
                  <a:lnTo>
                    <a:pt x="63285" y="0"/>
                  </a:lnTo>
                  <a:lnTo>
                    <a:pt x="63285" y="4829462"/>
                  </a:lnTo>
                  <a:lnTo>
                    <a:pt x="0" y="4829462"/>
                  </a:lnTo>
                  <a:close/>
                </a:path>
              </a:pathLst>
            </a:custGeom>
            <a:solidFill>
              <a:srgbClr val="FF2D9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285" cy="4867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8999425" y="-8259875"/>
            <a:ext cx="240287" cy="18336863"/>
            <a:chOff x="0" y="0"/>
            <a:chExt cx="63285" cy="48294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285" cy="4829462"/>
            </a:xfrm>
            <a:custGeom>
              <a:avLst/>
              <a:gdLst/>
              <a:ahLst/>
              <a:cxnLst/>
              <a:rect r="r" b="b" t="t" l="l"/>
              <a:pathLst>
                <a:path h="4829462" w="63285">
                  <a:moveTo>
                    <a:pt x="0" y="0"/>
                  </a:moveTo>
                  <a:lnTo>
                    <a:pt x="63285" y="0"/>
                  </a:lnTo>
                  <a:lnTo>
                    <a:pt x="63285" y="4829462"/>
                  </a:lnTo>
                  <a:lnTo>
                    <a:pt x="0" y="4829462"/>
                  </a:lnTo>
                  <a:close/>
                </a:path>
              </a:pathLst>
            </a:custGeom>
            <a:solidFill>
              <a:srgbClr val="D4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3285" cy="4867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-2261197">
            <a:off x="-758240" y="4487860"/>
            <a:ext cx="12596232" cy="124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Bisdak"/>
                <a:ea typeface="Bisdak"/>
                <a:cs typeface="Bisdak"/>
                <a:sym typeface="Bisdak"/>
              </a:rPr>
              <a:t>PROBABILIDADE NO COTIDIANO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16122" y="5090751"/>
            <a:ext cx="700498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Binate Bold"/>
                <a:ea typeface="Binate Bold"/>
                <a:cs typeface="Binate Bold"/>
                <a:sym typeface="Binate Bold"/>
              </a:rPr>
              <a:t>Exemplos: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58882" y="0"/>
            <a:ext cx="7029118" cy="10287000"/>
            <a:chOff x="0" y="0"/>
            <a:chExt cx="185129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29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51290">
                  <a:moveTo>
                    <a:pt x="0" y="0"/>
                  </a:moveTo>
                  <a:lnTo>
                    <a:pt x="1851290" y="0"/>
                  </a:lnTo>
                  <a:lnTo>
                    <a:pt x="185129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45DDB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5129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073045"/>
            <a:ext cx="10023227" cy="620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"Depois de 5 caras, a próxima deve ser coroa".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"Eventos raros tornam-se prováveis ​​com o tempo".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"O experimental sempre corresponde ao teórico".</a:t>
            </a:r>
          </a:p>
          <a:p>
            <a:pPr algn="l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Binate Bold"/>
                <a:ea typeface="Binate Bold"/>
                <a:cs typeface="Binate Bold"/>
                <a:sym typeface="Binate Bold"/>
              </a:rPr>
              <a:t>L</a:t>
            </a:r>
            <a:r>
              <a:rPr lang="en-US" sz="3999" b="true">
                <a:solidFill>
                  <a:srgbClr val="FFFFFF"/>
                </a:solidFill>
                <a:latin typeface="Binate Bold"/>
                <a:ea typeface="Binate Bold"/>
                <a:cs typeface="Binate Bold"/>
                <a:sym typeface="Binate Bold"/>
              </a:rPr>
              <a:t>embrete: A probabilidade não tem memória!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671700" y="7857142"/>
            <a:ext cx="3400800" cy="3718569"/>
          </a:xfrm>
          <a:custGeom>
            <a:avLst/>
            <a:gdLst/>
            <a:ahLst/>
            <a:cxnLst/>
            <a:rect r="r" b="b" t="t" l="l"/>
            <a:pathLst>
              <a:path h="3718569" w="3400800">
                <a:moveTo>
                  <a:pt x="0" y="0"/>
                </a:moveTo>
                <a:lnTo>
                  <a:pt x="3400800" y="0"/>
                </a:lnTo>
                <a:lnTo>
                  <a:pt x="3400800" y="3718569"/>
                </a:lnTo>
                <a:lnTo>
                  <a:pt x="0" y="37185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20454" y="2633767"/>
            <a:ext cx="4795493" cy="6264896"/>
          </a:xfrm>
          <a:custGeom>
            <a:avLst/>
            <a:gdLst/>
            <a:ahLst/>
            <a:cxnLst/>
            <a:rect r="r" b="b" t="t" l="l"/>
            <a:pathLst>
              <a:path h="6264896" w="4795493">
                <a:moveTo>
                  <a:pt x="0" y="0"/>
                </a:moveTo>
                <a:lnTo>
                  <a:pt x="4795493" y="0"/>
                </a:lnTo>
                <a:lnTo>
                  <a:pt x="4795493" y="6264895"/>
                </a:lnTo>
                <a:lnTo>
                  <a:pt x="0" y="62648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53732" y="731498"/>
            <a:ext cx="15780536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Bisdak"/>
                <a:ea typeface="Bisdak"/>
                <a:cs typeface="Bisdak"/>
                <a:sym typeface="Bisdak"/>
              </a:rPr>
              <a:t>ERROS COMUNS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12023733" y="2149245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0" y="852375"/>
                </a:moveTo>
                <a:lnTo>
                  <a:pt x="730086" y="852375"/>
                </a:lnTo>
                <a:lnTo>
                  <a:pt x="730086" y="0"/>
                </a:lnTo>
                <a:lnTo>
                  <a:pt x="0" y="0"/>
                </a:lnTo>
                <a:lnTo>
                  <a:pt x="0" y="85237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6894257" y="8472475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0" y="852375"/>
                </a:moveTo>
                <a:lnTo>
                  <a:pt x="730086" y="852375"/>
                </a:lnTo>
                <a:lnTo>
                  <a:pt x="730086" y="0"/>
                </a:lnTo>
                <a:lnTo>
                  <a:pt x="0" y="0"/>
                </a:lnTo>
                <a:lnTo>
                  <a:pt x="0" y="85237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162695"/>
            <a:ext cx="18288000" cy="2124305"/>
            <a:chOff x="0" y="0"/>
            <a:chExt cx="4816593" cy="5594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59488"/>
            </a:xfrm>
            <a:custGeom>
              <a:avLst/>
              <a:gdLst/>
              <a:ahLst/>
              <a:cxnLst/>
              <a:rect r="r" b="b" t="t" l="l"/>
              <a:pathLst>
                <a:path h="55948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59488"/>
                  </a:lnTo>
                  <a:lnTo>
                    <a:pt x="0" y="559488"/>
                  </a:lnTo>
                  <a:close/>
                </a:path>
              </a:pathLst>
            </a:custGeom>
            <a:solidFill>
              <a:srgbClr val="A45DDB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97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919261" y="2293029"/>
            <a:ext cx="13060521" cy="416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Independente: Um evento não afeta o outro.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Dependente: Um evento afeta o próximo.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Exemplo: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La</a:t>
            </a:r>
            <a:r>
              <a:rPr lang="en-US" sz="3900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nçar duas moedas (independente)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Binate"/>
                <a:ea typeface="Binate"/>
                <a:cs typeface="Binate"/>
                <a:sym typeface="Binate"/>
              </a:rPr>
              <a:t>Comprar duas cartas sem reposição (dependente)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317879" y="5237507"/>
            <a:ext cx="4082449" cy="3050702"/>
          </a:xfrm>
          <a:custGeom>
            <a:avLst/>
            <a:gdLst/>
            <a:ahLst/>
            <a:cxnLst/>
            <a:rect r="r" b="b" t="t" l="l"/>
            <a:pathLst>
              <a:path h="3050702" w="4082449">
                <a:moveTo>
                  <a:pt x="0" y="0"/>
                </a:moveTo>
                <a:lnTo>
                  <a:pt x="4082448" y="0"/>
                </a:lnTo>
                <a:lnTo>
                  <a:pt x="4082448" y="3050703"/>
                </a:lnTo>
                <a:lnTo>
                  <a:pt x="0" y="305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61121" y="3937314"/>
            <a:ext cx="5053757" cy="2600388"/>
          </a:xfrm>
          <a:custGeom>
            <a:avLst/>
            <a:gdLst/>
            <a:ahLst/>
            <a:cxnLst/>
            <a:rect r="r" b="b" t="t" l="l"/>
            <a:pathLst>
              <a:path h="2600388" w="5053757">
                <a:moveTo>
                  <a:pt x="0" y="0"/>
                </a:moveTo>
                <a:lnTo>
                  <a:pt x="5053758" y="0"/>
                </a:lnTo>
                <a:lnTo>
                  <a:pt x="5053758" y="2600387"/>
                </a:lnTo>
                <a:lnTo>
                  <a:pt x="0" y="2600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54010" y="851781"/>
            <a:ext cx="2308020" cy="2789914"/>
          </a:xfrm>
          <a:custGeom>
            <a:avLst/>
            <a:gdLst/>
            <a:ahLst/>
            <a:cxnLst/>
            <a:rect r="r" b="b" t="t" l="l"/>
            <a:pathLst>
              <a:path h="2789914" w="2308020">
                <a:moveTo>
                  <a:pt x="0" y="0"/>
                </a:moveTo>
                <a:lnTo>
                  <a:pt x="2308020" y="0"/>
                </a:lnTo>
                <a:lnTo>
                  <a:pt x="2308020" y="2789914"/>
                </a:lnTo>
                <a:lnTo>
                  <a:pt x="0" y="2789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53732" y="1029379"/>
            <a:ext cx="15780536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Bisdak"/>
                <a:ea typeface="Bisdak"/>
                <a:cs typeface="Bisdak"/>
                <a:sym typeface="Bisdak"/>
              </a:rPr>
              <a:t>EVENTOS COMPOSTOS</a:t>
            </a:r>
          </a:p>
        </p:txBody>
      </p:sp>
      <p:sp>
        <p:nvSpPr>
          <p:cNvPr name="Freeform 10" id="10"/>
          <p:cNvSpPr/>
          <p:nvPr/>
        </p:nvSpPr>
        <p:spPr>
          <a:xfrm flipH="false" flipV="true" rot="0">
            <a:off x="17280268" y="2246738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0" y="852376"/>
                </a:moveTo>
                <a:lnTo>
                  <a:pt x="730086" y="852376"/>
                </a:lnTo>
                <a:lnTo>
                  <a:pt x="730086" y="0"/>
                </a:lnTo>
                <a:lnTo>
                  <a:pt x="0" y="0"/>
                </a:lnTo>
                <a:lnTo>
                  <a:pt x="0" y="852376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888689" y="3355791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730086" y="0"/>
                </a:moveTo>
                <a:lnTo>
                  <a:pt x="0" y="0"/>
                </a:lnTo>
                <a:lnTo>
                  <a:pt x="0" y="852376"/>
                </a:lnTo>
                <a:lnTo>
                  <a:pt x="730086" y="852376"/>
                </a:lnTo>
                <a:lnTo>
                  <a:pt x="730086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9048288" y="588006"/>
            <a:ext cx="240287" cy="18336863"/>
            <a:chOff x="0" y="0"/>
            <a:chExt cx="63285" cy="48294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285" cy="4829462"/>
            </a:xfrm>
            <a:custGeom>
              <a:avLst/>
              <a:gdLst/>
              <a:ahLst/>
              <a:cxnLst/>
              <a:rect r="r" b="b" t="t" l="l"/>
              <a:pathLst>
                <a:path h="4829462" w="63285">
                  <a:moveTo>
                    <a:pt x="0" y="0"/>
                  </a:moveTo>
                  <a:lnTo>
                    <a:pt x="63285" y="0"/>
                  </a:lnTo>
                  <a:lnTo>
                    <a:pt x="63285" y="4829462"/>
                  </a:lnTo>
                  <a:lnTo>
                    <a:pt x="0" y="4829462"/>
                  </a:lnTo>
                  <a:close/>
                </a:path>
              </a:pathLst>
            </a:custGeom>
            <a:solidFill>
              <a:srgbClr val="FF2D9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3285" cy="4867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9048288" y="210012"/>
            <a:ext cx="240287" cy="18336863"/>
            <a:chOff x="0" y="0"/>
            <a:chExt cx="63285" cy="48294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285" cy="4829462"/>
            </a:xfrm>
            <a:custGeom>
              <a:avLst/>
              <a:gdLst/>
              <a:ahLst/>
              <a:cxnLst/>
              <a:rect r="r" b="b" t="t" l="l"/>
              <a:pathLst>
                <a:path h="4829462" w="63285">
                  <a:moveTo>
                    <a:pt x="0" y="0"/>
                  </a:moveTo>
                  <a:lnTo>
                    <a:pt x="63285" y="0"/>
                  </a:lnTo>
                  <a:lnTo>
                    <a:pt x="63285" y="4829462"/>
                  </a:lnTo>
                  <a:lnTo>
                    <a:pt x="0" y="4829462"/>
                  </a:lnTo>
                  <a:close/>
                </a:path>
              </a:pathLst>
            </a:custGeom>
            <a:solidFill>
              <a:srgbClr val="D4FF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3285" cy="4867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563308">
            <a:off x="-5364789" y="-1720396"/>
            <a:ext cx="15860765" cy="5690049"/>
          </a:xfrm>
          <a:custGeom>
            <a:avLst/>
            <a:gdLst/>
            <a:ahLst/>
            <a:cxnLst/>
            <a:rect r="r" b="b" t="t" l="l"/>
            <a:pathLst>
              <a:path h="5690049" w="15860765">
                <a:moveTo>
                  <a:pt x="0" y="5690049"/>
                </a:moveTo>
                <a:lnTo>
                  <a:pt x="15860764" y="5690049"/>
                </a:lnTo>
                <a:lnTo>
                  <a:pt x="15860764" y="0"/>
                </a:lnTo>
                <a:lnTo>
                  <a:pt x="0" y="0"/>
                </a:lnTo>
                <a:lnTo>
                  <a:pt x="0" y="5690049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563308">
            <a:off x="8624315" y="5250792"/>
            <a:ext cx="15860765" cy="5690049"/>
          </a:xfrm>
          <a:custGeom>
            <a:avLst/>
            <a:gdLst/>
            <a:ahLst/>
            <a:cxnLst/>
            <a:rect r="r" b="b" t="t" l="l"/>
            <a:pathLst>
              <a:path h="5690049" w="15860765">
                <a:moveTo>
                  <a:pt x="0" y="0"/>
                </a:moveTo>
                <a:lnTo>
                  <a:pt x="15860765" y="0"/>
                </a:lnTo>
                <a:lnTo>
                  <a:pt x="15860765" y="5690049"/>
                </a:lnTo>
                <a:lnTo>
                  <a:pt x="0" y="5690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13370" y="0"/>
            <a:ext cx="240287" cy="10287000"/>
            <a:chOff x="0" y="0"/>
            <a:chExt cx="63285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2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285">
                  <a:moveTo>
                    <a:pt x="0" y="0"/>
                  </a:moveTo>
                  <a:lnTo>
                    <a:pt x="63285" y="0"/>
                  </a:lnTo>
                  <a:lnTo>
                    <a:pt x="632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2D9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328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634343" y="0"/>
            <a:ext cx="240287" cy="10287000"/>
            <a:chOff x="0" y="0"/>
            <a:chExt cx="63285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2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285">
                  <a:moveTo>
                    <a:pt x="0" y="0"/>
                  </a:moveTo>
                  <a:lnTo>
                    <a:pt x="63285" y="0"/>
                  </a:lnTo>
                  <a:lnTo>
                    <a:pt x="632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0AD2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28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4954478" y="-1278884"/>
            <a:ext cx="6304011" cy="4114800"/>
          </a:xfrm>
          <a:custGeom>
            <a:avLst/>
            <a:gdLst/>
            <a:ahLst/>
            <a:cxnLst/>
            <a:rect r="r" b="b" t="t" l="l"/>
            <a:pathLst>
              <a:path h="4114800" w="6304011">
                <a:moveTo>
                  <a:pt x="0" y="0"/>
                </a:moveTo>
                <a:lnTo>
                  <a:pt x="6304011" y="0"/>
                </a:lnTo>
                <a:lnTo>
                  <a:pt x="6304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430097">
            <a:off x="-1482780" y="7914513"/>
            <a:ext cx="3792300" cy="4363526"/>
          </a:xfrm>
          <a:custGeom>
            <a:avLst/>
            <a:gdLst/>
            <a:ahLst/>
            <a:cxnLst/>
            <a:rect r="r" b="b" t="t" l="l"/>
            <a:pathLst>
              <a:path h="4363526" w="3792300">
                <a:moveTo>
                  <a:pt x="0" y="0"/>
                </a:moveTo>
                <a:lnTo>
                  <a:pt x="3792300" y="0"/>
                </a:lnTo>
                <a:lnTo>
                  <a:pt x="3792300" y="4363526"/>
                </a:lnTo>
                <a:lnTo>
                  <a:pt x="0" y="43635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152982" y="7334348"/>
            <a:ext cx="5203009" cy="5061108"/>
          </a:xfrm>
          <a:custGeom>
            <a:avLst/>
            <a:gdLst/>
            <a:ahLst/>
            <a:cxnLst/>
            <a:rect r="r" b="b" t="t" l="l"/>
            <a:pathLst>
              <a:path h="5061108" w="5203009">
                <a:moveTo>
                  <a:pt x="0" y="0"/>
                </a:moveTo>
                <a:lnTo>
                  <a:pt x="5203009" y="0"/>
                </a:lnTo>
                <a:lnTo>
                  <a:pt x="5203009" y="5061108"/>
                </a:lnTo>
                <a:lnTo>
                  <a:pt x="0" y="50611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787492" y="-746836"/>
            <a:ext cx="4082449" cy="3050702"/>
          </a:xfrm>
          <a:custGeom>
            <a:avLst/>
            <a:gdLst/>
            <a:ahLst/>
            <a:cxnLst/>
            <a:rect r="r" b="b" t="t" l="l"/>
            <a:pathLst>
              <a:path h="3050702" w="4082449">
                <a:moveTo>
                  <a:pt x="0" y="0"/>
                </a:moveTo>
                <a:lnTo>
                  <a:pt x="4082448" y="0"/>
                </a:lnTo>
                <a:lnTo>
                  <a:pt x="4082448" y="3050703"/>
                </a:lnTo>
                <a:lnTo>
                  <a:pt x="0" y="3050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3732" y="933450"/>
            <a:ext cx="15780536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Bisdak"/>
                <a:ea typeface="Bisdak"/>
                <a:cs typeface="Bisdak"/>
                <a:sym typeface="Bisdak"/>
              </a:rPr>
              <a:t>mini quiz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04459" y="2769241"/>
            <a:ext cx="655023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2A0055"/>
                </a:solidFill>
                <a:latin typeface="Binate"/>
                <a:ea typeface="Binate"/>
                <a:cs typeface="Binate"/>
                <a:sym typeface="Binate"/>
              </a:rPr>
              <a:t>Show your solution here: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34621" y="2393820"/>
            <a:ext cx="14471110" cy="6292728"/>
            <a:chOff x="0" y="0"/>
            <a:chExt cx="3811321" cy="16573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1321" cy="1657344"/>
            </a:xfrm>
            <a:custGeom>
              <a:avLst/>
              <a:gdLst/>
              <a:ahLst/>
              <a:cxnLst/>
              <a:rect r="r" b="b" t="t" l="l"/>
              <a:pathLst>
                <a:path h="1657344" w="3811321">
                  <a:moveTo>
                    <a:pt x="5350" y="0"/>
                  </a:moveTo>
                  <a:lnTo>
                    <a:pt x="3805971" y="0"/>
                  </a:lnTo>
                  <a:cubicBezTo>
                    <a:pt x="3808926" y="0"/>
                    <a:pt x="3811321" y="2395"/>
                    <a:pt x="3811321" y="5350"/>
                  </a:cubicBezTo>
                  <a:lnTo>
                    <a:pt x="3811321" y="1651994"/>
                  </a:lnTo>
                  <a:cubicBezTo>
                    <a:pt x="3811321" y="1654949"/>
                    <a:pt x="3808926" y="1657344"/>
                    <a:pt x="3805971" y="1657344"/>
                  </a:cubicBezTo>
                  <a:lnTo>
                    <a:pt x="5350" y="1657344"/>
                  </a:lnTo>
                  <a:cubicBezTo>
                    <a:pt x="2395" y="1657344"/>
                    <a:pt x="0" y="1654949"/>
                    <a:pt x="0" y="1651994"/>
                  </a:cubicBezTo>
                  <a:lnTo>
                    <a:pt x="0" y="5350"/>
                  </a:lnTo>
                  <a:cubicBezTo>
                    <a:pt x="0" y="2395"/>
                    <a:pt x="2395" y="0"/>
                    <a:pt x="5350" y="0"/>
                  </a:cubicBezTo>
                  <a:close/>
                </a:path>
              </a:pathLst>
            </a:custGeom>
            <a:solidFill>
              <a:srgbClr val="FFFFFF"/>
            </a:solidFill>
            <a:ln w="123825" cap="sq">
              <a:solidFill>
                <a:srgbClr val="D0AD2D"/>
              </a:solidFill>
              <a:prstDash val="lgDash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811321" cy="169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723857" y="2769241"/>
            <a:ext cx="12840287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2A0055"/>
                </a:solidFill>
                <a:latin typeface="Binate Bold"/>
                <a:ea typeface="Binate Bold"/>
                <a:cs typeface="Binate Bold"/>
                <a:sym typeface="Binate Bold"/>
              </a:rPr>
              <a:t>Qual a probabilidade de se extrair uma vogal da palavra "SINO"?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14191" y="5302574"/>
            <a:ext cx="6550239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2A0055"/>
                </a:solidFill>
                <a:latin typeface="Binate Bold"/>
                <a:ea typeface="Binate Bold"/>
                <a:cs typeface="Binate Bold"/>
                <a:sym typeface="Binate Bold"/>
              </a:rPr>
              <a:t>A. 100%</a:t>
            </a: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2A0055"/>
                </a:solidFill>
                <a:latin typeface="Binate Bold"/>
                <a:ea typeface="Binate Bold"/>
                <a:cs typeface="Binate Bold"/>
                <a:sym typeface="Binate Bold"/>
              </a:rPr>
              <a:t>B. 25%</a:t>
            </a: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2A0055"/>
                </a:solidFill>
                <a:latin typeface="Binate Bold"/>
                <a:ea typeface="Binate Bold"/>
                <a:cs typeface="Binate Bold"/>
                <a:sym typeface="Binate Bold"/>
              </a:rPr>
              <a:t>C. 50%</a:t>
            </a: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2A0055"/>
                </a:solidFill>
                <a:latin typeface="Binate Bold"/>
                <a:ea typeface="Binate Bold"/>
                <a:cs typeface="Binate Bold"/>
                <a:sym typeface="Binate Bold"/>
              </a:rPr>
              <a:t>D. 75%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0239" y="7455421"/>
            <a:ext cx="6847523" cy="105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Probabilidade - Aprenda a calcular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Toda Matéria</a:t>
            </a:r>
          </a:p>
        </p:txBody>
      </p:sp>
      <p:pic>
        <p:nvPicPr>
          <p:cNvPr name="Picture 3" id="3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3653314" y="1005442"/>
            <a:ext cx="10981372" cy="61722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269581" y="8720454"/>
            <a:ext cx="9748838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www.youtube.com/watch?v=V5e8_Jp67M0"/>
              </a:rPr>
              <a:t>https://www.youtube.com/watch?v=V5e8_Jp67M0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-2846390" y="1082633"/>
            <a:ext cx="7031759" cy="256480"/>
            <a:chOff x="0" y="0"/>
            <a:chExt cx="1851986" cy="67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986" cy="67550"/>
            </a:xfrm>
            <a:custGeom>
              <a:avLst/>
              <a:gdLst/>
              <a:ahLst/>
              <a:cxnLst/>
              <a:rect r="r" b="b" t="t" l="l"/>
              <a:pathLst>
                <a:path h="67550" w="1851986">
                  <a:moveTo>
                    <a:pt x="0" y="0"/>
                  </a:moveTo>
                  <a:lnTo>
                    <a:pt x="1851986" y="0"/>
                  </a:lnTo>
                  <a:lnTo>
                    <a:pt x="1851986" y="67550"/>
                  </a:lnTo>
                  <a:lnTo>
                    <a:pt x="0" y="67550"/>
                  </a:lnTo>
                  <a:close/>
                </a:path>
              </a:pathLst>
            </a:custGeom>
            <a:solidFill>
              <a:srgbClr val="FF2D9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51986" cy="10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-2325488" y="1109581"/>
            <a:ext cx="7031759" cy="256480"/>
            <a:chOff x="0" y="0"/>
            <a:chExt cx="1851986" cy="67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51986" cy="67550"/>
            </a:xfrm>
            <a:custGeom>
              <a:avLst/>
              <a:gdLst/>
              <a:ahLst/>
              <a:cxnLst/>
              <a:rect r="r" b="b" t="t" l="l"/>
              <a:pathLst>
                <a:path h="67550" w="1851986">
                  <a:moveTo>
                    <a:pt x="0" y="0"/>
                  </a:moveTo>
                  <a:lnTo>
                    <a:pt x="1851986" y="0"/>
                  </a:lnTo>
                  <a:lnTo>
                    <a:pt x="1851986" y="67550"/>
                  </a:lnTo>
                  <a:lnTo>
                    <a:pt x="0" y="67550"/>
                  </a:lnTo>
                  <a:close/>
                </a:path>
              </a:pathLst>
            </a:custGeom>
            <a:solidFill>
              <a:srgbClr val="D4FF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51986" cy="10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8195312">
            <a:off x="13760044" y="9213426"/>
            <a:ext cx="7031759" cy="256480"/>
            <a:chOff x="0" y="0"/>
            <a:chExt cx="1851986" cy="675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51986" cy="67550"/>
            </a:xfrm>
            <a:custGeom>
              <a:avLst/>
              <a:gdLst/>
              <a:ahLst/>
              <a:cxnLst/>
              <a:rect r="r" b="b" t="t" l="l"/>
              <a:pathLst>
                <a:path h="67550" w="1851986">
                  <a:moveTo>
                    <a:pt x="0" y="0"/>
                  </a:moveTo>
                  <a:lnTo>
                    <a:pt x="1851986" y="0"/>
                  </a:lnTo>
                  <a:lnTo>
                    <a:pt x="1851986" y="67550"/>
                  </a:lnTo>
                  <a:lnTo>
                    <a:pt x="0" y="67550"/>
                  </a:lnTo>
                  <a:close/>
                </a:path>
              </a:pathLst>
            </a:custGeom>
            <a:solidFill>
              <a:srgbClr val="FF2D9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51986" cy="10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195312">
            <a:off x="13240090" y="9172047"/>
            <a:ext cx="7031759" cy="256480"/>
            <a:chOff x="0" y="0"/>
            <a:chExt cx="1851986" cy="675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51986" cy="67550"/>
            </a:xfrm>
            <a:custGeom>
              <a:avLst/>
              <a:gdLst/>
              <a:ahLst/>
              <a:cxnLst/>
              <a:rect r="r" b="b" t="t" l="l"/>
              <a:pathLst>
                <a:path h="67550" w="1851986">
                  <a:moveTo>
                    <a:pt x="0" y="0"/>
                  </a:moveTo>
                  <a:lnTo>
                    <a:pt x="1851986" y="0"/>
                  </a:lnTo>
                  <a:lnTo>
                    <a:pt x="1851986" y="67550"/>
                  </a:lnTo>
                  <a:lnTo>
                    <a:pt x="0" y="67550"/>
                  </a:lnTo>
                  <a:close/>
                </a:path>
              </a:pathLst>
            </a:custGeom>
            <a:solidFill>
              <a:srgbClr val="D4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51986" cy="10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543576" y="7023408"/>
            <a:ext cx="4508209" cy="3270501"/>
          </a:xfrm>
          <a:custGeom>
            <a:avLst/>
            <a:gdLst/>
            <a:ahLst/>
            <a:cxnLst/>
            <a:rect r="r" b="b" t="t" l="l"/>
            <a:pathLst>
              <a:path h="3270501" w="4508209">
                <a:moveTo>
                  <a:pt x="0" y="0"/>
                </a:moveTo>
                <a:lnTo>
                  <a:pt x="4508209" y="0"/>
                </a:lnTo>
                <a:lnTo>
                  <a:pt x="4508209" y="3270500"/>
                </a:lnTo>
                <a:lnTo>
                  <a:pt x="0" y="327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8964125">
            <a:off x="12975066" y="-1386763"/>
            <a:ext cx="6413193" cy="3836255"/>
          </a:xfrm>
          <a:custGeom>
            <a:avLst/>
            <a:gdLst/>
            <a:ahLst/>
            <a:cxnLst/>
            <a:rect r="r" b="b" t="t" l="l"/>
            <a:pathLst>
              <a:path h="3836255" w="6413193">
                <a:moveTo>
                  <a:pt x="0" y="0"/>
                </a:moveTo>
                <a:lnTo>
                  <a:pt x="6413193" y="0"/>
                </a:lnTo>
                <a:lnTo>
                  <a:pt x="6413193" y="3836255"/>
                </a:lnTo>
                <a:lnTo>
                  <a:pt x="0" y="38362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23387" y="4236850"/>
            <a:ext cx="16841226" cy="1813300"/>
            <a:chOff x="0" y="0"/>
            <a:chExt cx="22454967" cy="2417734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119542" y="-95250"/>
              <a:ext cx="22215883" cy="110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Bisdak"/>
                  <a:ea typeface="Bisdak"/>
                  <a:cs typeface="Bisdak"/>
                  <a:sym typeface="Bisdak"/>
                </a:rPr>
                <a:t>GRATIDÃO!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537200"/>
              <a:ext cx="22454967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Binate"/>
                  <a:ea typeface="Binate"/>
                  <a:cs typeface="Binate"/>
                  <a:sym typeface="Binate"/>
                </a:rPr>
                <a:t>Dúvidas?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true" rot="0">
            <a:off x="4343379" y="8832112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0" y="852376"/>
                </a:moveTo>
                <a:lnTo>
                  <a:pt x="730086" y="852376"/>
                </a:lnTo>
                <a:lnTo>
                  <a:pt x="730086" y="0"/>
                </a:lnTo>
                <a:lnTo>
                  <a:pt x="0" y="0"/>
                </a:lnTo>
                <a:lnTo>
                  <a:pt x="0" y="852376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true" rot="0">
            <a:off x="12080161" y="105177"/>
            <a:ext cx="730086" cy="852375"/>
          </a:xfrm>
          <a:custGeom>
            <a:avLst/>
            <a:gdLst/>
            <a:ahLst/>
            <a:cxnLst/>
            <a:rect r="r" b="b" t="t" l="l"/>
            <a:pathLst>
              <a:path h="852375" w="730086">
                <a:moveTo>
                  <a:pt x="0" y="852375"/>
                </a:moveTo>
                <a:lnTo>
                  <a:pt x="730086" y="852375"/>
                </a:lnTo>
                <a:lnTo>
                  <a:pt x="730086" y="0"/>
                </a:lnTo>
                <a:lnTo>
                  <a:pt x="0" y="0"/>
                </a:lnTo>
                <a:lnTo>
                  <a:pt x="0" y="85237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DAG-EhURRl0</dc:identifier>
  <dcterms:modified xsi:type="dcterms:W3CDTF">2011-08-01T06:04:30Z</dcterms:modified>
  <cp:revision>1</cp:revision>
  <dc:title>SD3 - Slides - Probabilidade</dc:title>
</cp:coreProperties>
</file>